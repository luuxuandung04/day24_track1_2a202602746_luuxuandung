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e9ce4efd7314741" /><Relationship Type="http://schemas.openxmlformats.org/officeDocument/2006/relationships/extended-properties" Target="/docProps/app.xml" Id="Rec81da6f68244690" /><Relationship Type="http://schemas.openxmlformats.org/officeDocument/2006/relationships/officeDocument" Target="/ppt/presentation.xml" Id="Rbed6adf11e164cd0" /></Relationships>
</file>

<file path=ppt/presentation.xml><?xml version="1.0" encoding="utf-8"?>
<p:presentation xmlns:p="http://schemas.openxmlformats.org/presentationml/2006/main">
  <p:sldMasterIdLst>
    <p:sldMasterId xmlns:r="http://schemas.openxmlformats.org/officeDocument/2006/relationships" id="2147483648" r:id="Rb44750caff8b4bdc"/>
  </p:sldMasterIdLst>
  <p:notesMasterIdLst>
    <p:notesMasterId xmlns:r="http://schemas.openxmlformats.org/officeDocument/2006/relationships" r:id="R29cfc2e7df654a48"/>
  </p:notesMasterIdLst>
  <p:sldIdLst>
    <p:sldId xmlns:r="http://schemas.openxmlformats.org/officeDocument/2006/relationships" id="256" r:id="R3801d43c1a914202"/>
    <p:sldId xmlns:r="http://schemas.openxmlformats.org/officeDocument/2006/relationships" id="257" r:id="Rdb3aa6e6ec654907"/>
    <p:sldId xmlns:r="http://schemas.openxmlformats.org/officeDocument/2006/relationships" id="258" r:id="Rff7a3ac02eca4a9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30f81295f0b495d" /><Relationship Type="http://schemas.openxmlformats.org/officeDocument/2006/relationships/slideMaster" Target="/ppt/slideMasters/slideMaster1.xml" Id="Rb44750caff8b4bdc" /><Relationship Type="http://schemas.openxmlformats.org/officeDocument/2006/relationships/notesMaster" Target="/ppt/notesMasters/notesMaster1.xml" Id="R29cfc2e7df654a48" /><Relationship Type="http://schemas.openxmlformats.org/officeDocument/2006/relationships/presProps" Target="/ppt/presProps.xml" Id="R671a654762594376" /><Relationship Type="http://schemas.openxmlformats.org/officeDocument/2006/relationships/tableStyles" Target="/ppt/tableStyles.xml" Id="Ra380cc2eadba496a" /><Relationship Type="http://schemas.openxmlformats.org/officeDocument/2006/relationships/slide" Target="/ppt/slides/slide1.xml" Id="R3801d43c1a914202" /><Relationship Type="http://schemas.openxmlformats.org/officeDocument/2006/relationships/slide" Target="/ppt/slides/slide2.xml" Id="Rdb3aa6e6ec654907" /><Relationship Type="http://schemas.openxmlformats.org/officeDocument/2006/relationships/slide" Target="/ppt/slides/slide3.xml" Id="Rff7a3ac02eca4a9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48e021160644c7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f3cec82a084087" /><Relationship Type="http://schemas.openxmlformats.org/officeDocument/2006/relationships/notesMaster" Target="/ppt/notesMasters/notesMaster1.xml" Id="Re8f5763e597e452c" /></Relationships>
</file>

<file path=ppt/notesSlides/_rels/notesSlide2.xml.rels>&#65279;<?xml version="1.0" encoding="utf-8"?><Relationships xmlns="http://schemas.openxmlformats.org/package/2006/relationships"><Relationship Type="http://schemas.openxmlformats.org/officeDocument/2006/relationships/slide" Target="/ppt/slides/slide2.xml" Id="R786a5dba26ec4806" /><Relationship Type="http://schemas.openxmlformats.org/officeDocument/2006/relationships/notesMaster" Target="/ppt/notesMasters/notesMaster1.xml" Id="R511a930286cf4da6" /></Relationships>
</file>

<file path=ppt/notesSlides/_rels/notesSlide3.xml.rels>&#65279;<?xml version="1.0" encoding="utf-8"?><Relationships xmlns="http://schemas.openxmlformats.org/package/2006/relationships"><Relationship Type="http://schemas.openxmlformats.org/officeDocument/2006/relationships/slide" Target="/ppt/slides/slide3.xml" Id="R7f1f0d6f7d974c73" /><Relationship Type="http://schemas.openxmlformats.org/officeDocument/2006/relationships/notesMaster" Target="/ppt/notesMasters/notesMaster1.xml" Id="Rf37656736d794d9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Đề xuất của tôi là thử nghiệm nhỏ ChấmNhanh, giữ gói 3,9 triệu đồng mỗi tháng gồm 600 bài, vượt hạn mức thu 5.500 đồng mỗi bài. Một việc là chấm bài viết tiếng Anh 250 đến 300 từ, trả điểm bốn tiêu chí và nhận xét trong 24 giờ. Trung tâm là khách trả tiền, còn giáo viên và học viên là người sử dụng kết quả. Toàn bộ đầu vào là giả định Đề bài 2, không phải số tôi đã đo. Giá vốn một bài là 1.619 đồng, trong đó gọi mô hình chỉ 769 đồng; phần còn lại gồm giáo viên kiểm tra và vận hành. Dùng mô hình đắt vẫn có biên trước chia 75,13% vì doanh thu bình quân mỗi bài cao hơn giá vốn. Chia đối tác 20% thì biên trên doanh thu khách trả còn 55,13%, được xem là ổn theo mốc lớp; sheet 4 dùng doanh thu sau chia nên hiển thị 68,92%, hai số có mẫu số khác nhau. Nguồn: CS9_DeBai_GiaDinh.pdf trang 4–5; workbook sheet 1 B21:B26, sheet 2 D17:F17 và B32.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Cơ sở có NPV khoảng 3,513 tỷ và hoàn vốn dự án tháng 15, trong khi thu hồi CAC chỉ 1,95 tháng. Hai thời gian hoàn vốn này khác nhau: một bên bù chi phí có khách, một bên bù cả xây dựng và đội vận hành. Lạc quan là 15,025 tỷ, nhưng xấu âm 3,234 tỷ và hết tiền tháng 17. Kịch bản xấu giữ hệ số của mẫu: doanh thu giảm, giá vốn tăng, churn lên 7,2% và CAC lên 10,5 triệu. Vì vậy chỉ số mỗi khách tốt không đủ để quyết định triển khai toàn bộ. Độ nhạy cho thấy doanh thu giảm 20% khiến NPV giảm 2,906 tỷ, mạnh nhất. Chỉ 25% khách lớn đem lại khoảng 55,09% doanh thu; nếu họ được thay hết bằng khách nhỏ, NPV chuyển âm 57,7 triệu dù dự án hoàn vốn danh nghĩa tháng 23. Nguồn: workbook sheet 4 C5:C12; sheet 5 B44:D48, D58:E64 và D68; sheet 2 B21. Giả định từ PDF Đề bài 2 trang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Tôi đề xuất thử tám trung tâm trong tám tuần, gồm sáu nhỏ và hai lớn, trần chi thử nghiệm 60 triệu đồng. Đây là kế hoạch đề xuất thêm, không thay ngân sách ba tỷ hoặc đội năm người trong mô hình đề. Tôi hoãn tuyển đội đầy đủ; chỉ mở rộng khi doanh thu đạt ngưỡng và tỷ lệ bài phải sửa điểm không quá 10% trên 200 bài đối chiếu. Tôi là người theo dõi hằng tuần. Nếu doanh thu giữ lại bình quân dưới 3,9504 triệu trên cả tám trung tâm trong hai tháng liên tiếp, tôi dừng mở rộng và đàm phán lại gói cùng tỷ lệ chia. Việc cấm làm là hạ phí vượt dưới giá sàn. Trần chia 39,34% là hòa vốn riêng của mô hình, không phải mức nên đàm phán sát trần. Những ngưỡng này đổi một biến, giữ các biến khác; rủi ro đồng thời có thể xảy ra sớm hơn. Nguồn: workbook sheet 5 C72:C77 và sheet 7 A15:A27. Quy mô, ngân sách thử, chỉ tiêu chất lượng là đề xuất chưa thực hiện.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f5967dbf4146b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e437db843294cd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6a9e5edca744af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3e5ae06c3ba44e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48af2c19ff3456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c07aa70c079480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43BD77F-1D7D-4A7E-BAE1-CEA478F9897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90852C7-4EC4-46D6-9420-B0F53218B1F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0E9FCDA-76E7-4F23-93B8-61A80580CBD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C6F0B7-C8C8-4CCD-BA52-A61E02716E3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3CE269E-4345-4F64-81E2-930763CA853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C226F91-F636-49F6-A721-F0BA61E014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60FBA00-0E7C-49C5-8E5B-DC76FD569BE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1DAE819-38A0-4C6B-8961-B35AAFCBB27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8E06491-A97C-44CE-A306-256D9B252BD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42863BA-4E97-4A27-BBB2-8A00686A3A2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a59c1a5b054b33" /><Relationship Type="http://schemas.openxmlformats.org/officeDocument/2006/relationships/slideLayout" Target="/ppt/slideLayouts/slideLayout1.xml" Id="R1f20dd4578774892" /><Relationship Type="http://schemas.openxmlformats.org/officeDocument/2006/relationships/slideLayout" Target="/ppt/slideLayouts/slideLayout2.xml" Id="R7492d6900a2343bc" /><Relationship Type="http://schemas.openxmlformats.org/officeDocument/2006/relationships/slideLayout" Target="/ppt/slideLayouts/slideLayout3.xml" Id="Rc100d888a5ba4e15" /><Relationship Type="http://schemas.openxmlformats.org/officeDocument/2006/relationships/slideLayout" Target="/ppt/slideLayouts/slideLayout4.xml" Id="Raedbfe040bac4099" /><Relationship Type="http://schemas.openxmlformats.org/officeDocument/2006/relationships/slideLayout" Target="/ppt/slideLayouts/slideLayout5.xml" Id="R8d8b28af1b54463d" /><Relationship Type="http://schemas.openxmlformats.org/officeDocument/2006/relationships/slideLayout" Target="/ppt/slideLayouts/slideLayout6.xml" Id="Re1d25619e3c1410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f20dd4578774892"/>
    <p:sldLayoutId xmlns:r="http://schemas.openxmlformats.org/officeDocument/2006/relationships" id="2147483650" r:id="R7492d6900a2343bc"/>
    <p:sldLayoutId xmlns:r="http://schemas.openxmlformats.org/officeDocument/2006/relationships" id="2147483651" r:id="Rc100d888a5ba4e15"/>
    <p:sldLayoutId xmlns:r="http://schemas.openxmlformats.org/officeDocument/2006/relationships" id="2147483652" r:id="Raedbfe040bac4099"/>
    <p:sldLayoutId xmlns:r="http://schemas.openxmlformats.org/officeDocument/2006/relationships" id="2147483653" r:id="R8d8b28af1b54463d"/>
    <p:sldLayoutId xmlns:r="http://schemas.openxmlformats.org/officeDocument/2006/relationships" id="2147483654" r:id="Re1d25619e3c1410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ee2a1f938a4498f" /><Relationship Type="http://schemas.openxmlformats.org/officeDocument/2006/relationships/notesSlide" Target="/ppt/notesSlides/notesSlide1.xml" Id="R9fa300c8c8a044c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19be5b37d434c06" /><Relationship Type="http://schemas.openxmlformats.org/officeDocument/2006/relationships/notesSlide" Target="/ppt/notesSlides/notesSlide2.xml" Id="R65daa114357549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5de23324b294ae4" /><Relationship Type="http://schemas.openxmlformats.org/officeDocument/2006/relationships/notesSlide" Target="/ppt/notesSlides/notesSlide3.xml" Id="R5d15d79dfe424aa7" /></Relationships>
</file>

<file path=ppt/slides/slide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1552008-9346-4A91-A7D7-C7CE2F1FCD22}"/>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62D46"/>
                </a:solidFill>
                <a:latin typeface="Arial"/>
                <a:ea typeface="Arial"/>
                <a:cs typeface="Arial"/>
              </a:defRPr>
            </a:defPPr>
          </a:lstStyle>
          <a:p xmlns:a="http://schemas.openxmlformats.org/drawingml/2006/main">
            <a:pPr>
              <a:defRPr sz="3300" b="1">
                <a:solidFill>
                  <a:srgbClr val="162D46"/>
                </a:solidFill>
                <a:latin typeface="Arial"/>
                <a:ea typeface="Arial"/>
                <a:cs typeface="Arial"/>
              </a:defRPr>
            </a:pPr>
            <a:r>
              <a:rPr sz="3300" b="1">
                <a:solidFill>
                  <a:srgbClr val="162D46"/>
                </a:solidFill>
                <a:latin typeface="Arial"/>
                <a:ea typeface="Arial"/>
                <a:cs typeface="Arial"/>
              </a:rPr>
              <a:t>Thử nghiệm nhỏ ChấmNhanh</a:t>
            </a:r>
          </a:p>
        </p:txBody>
      </p:sp>
      <p:sp>
        <p:nvSpPr>
          <p:cNvPr id="2" name="">
            <a:extLst xmlns:a="http://schemas.openxmlformats.org/drawingml/2006/main">
              <a:ext uri="{FF2B5EF4-FFF2-40B4-BE49-F238E27FC236}">
                <a16:creationId xmlns:a16="http://schemas.microsoft.com/office/drawing/2014/main" id="{04E43DA8-8192-455A-BC74-39376EACD917}"/>
              </a:ext>
            </a:extLst>
          </p:cNvPr>
          <p:cNvSpPr>
            <a:spLocks xmlns:a="http://schemas.openxmlformats.org/drawingml/2006/main" noGrp="1"/>
          </p:cNvSpPr>
          <p:nvPr/>
        </p:nvSpPr>
        <p:spPr>
          <a:xfrm xmlns:a="http://schemas.openxmlformats.org/drawingml/2006/main">
            <a:off x="609600" y="14478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250" b="1">
                <a:solidFill>
                  <a:srgbClr val="A34026"/>
                </a:solidFill>
                <a:latin typeface="Arial"/>
                <a:ea typeface="Arial"/>
                <a:cs typeface="Arial"/>
              </a:defRPr>
            </a:defPPr>
          </a:lstStyle>
          <a:p xmlns:a="http://schemas.openxmlformats.org/drawingml/2006/main">
            <a:pPr>
              <a:defRPr sz="2250" b="1">
                <a:solidFill>
                  <a:srgbClr val="A34026"/>
                </a:solidFill>
                <a:latin typeface="Arial"/>
                <a:ea typeface="Arial"/>
                <a:cs typeface="Arial"/>
              </a:defRPr>
            </a:pPr>
            <a:r>
              <a:rPr sz="2250" b="1">
                <a:solidFill>
                  <a:srgbClr val="A34026"/>
                </a:solidFill>
                <a:latin typeface="Arial"/>
                <a:ea typeface="Arial"/>
                <a:cs typeface="Arial"/>
              </a:rPr>
              <a:t>3,9 triệu/tháng gồm 600 bài; vượt 5.500 đồng/bài</a:t>
            </a:r>
          </a:p>
        </p:txBody>
      </p:sp>
      <p:sp>
        <p:nvSpPr>
          <p:cNvPr id="3" name="">
            <a:extLst xmlns:a="http://schemas.openxmlformats.org/drawingml/2006/main">
              <a:ext uri="{FF2B5EF4-FFF2-40B4-BE49-F238E27FC236}">
                <a16:creationId xmlns:a16="http://schemas.microsoft.com/office/drawing/2014/main" id="{518DF4AD-9977-4762-9F81-89C98842156F}"/>
              </a:ext>
            </a:extLst>
          </p:cNvPr>
          <p:cNvSpPr>
            <a:spLocks xmlns:a="http://schemas.openxmlformats.org/drawingml/2006/main" noGrp="1"/>
          </p:cNvSpPr>
          <p:nvPr/>
        </p:nvSpPr>
        <p:spPr>
          <a:xfrm xmlns:a="http://schemas.openxmlformats.org/drawingml/2006/main">
            <a:off x="609600" y="21526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62D46"/>
                </a:solidFill>
                <a:latin typeface="Arial"/>
                <a:ea typeface="Arial"/>
                <a:cs typeface="Arial"/>
              </a:defRPr>
            </a:defPPr>
          </a:lstStyle>
          <a:p xmlns:a="http://schemas.openxmlformats.org/drawingml/2006/main">
            <a:pPr>
              <a:defRPr sz="2100" b="0">
                <a:solidFill>
                  <a:srgbClr val="162D46"/>
                </a:solidFill>
                <a:latin typeface="Arial"/>
                <a:ea typeface="Arial"/>
                <a:cs typeface="Arial"/>
              </a:defRPr>
            </a:pPr>
            <a:r>
              <a:rPr sz="2100" b="0">
                <a:solidFill>
                  <a:srgbClr val="162D46"/>
                </a:solidFill>
                <a:latin typeface="Arial"/>
                <a:ea typeface="Arial"/>
                <a:cs typeface="Arial"/>
              </a:rPr>
              <a:t>Một bài viết 250–300 từ: điểm theo 4 tiêu chí và nhận xét trong 24 giờ. Trung tâm trả tiền; bán qua đối tác chia 20%.</a:t>
            </a:r>
          </a:p>
        </p:txBody>
      </p:sp>
      <p:graphicFrame>
        <p:nvGraphicFramePr>
          <p:cNvPr id="4" name="">
            <a:extLst xmlns:a="http://schemas.openxmlformats.org/drawingml/2006/main">
              <a:ext uri="{FF2B5EF4-FFF2-40B4-BE49-F238E27FC236}">
                <a16:creationId xmlns:a16="http://schemas.microsoft.com/office/drawing/2014/main" id="{09BBAE30-3176-4615-A47A-25954BD3FC0F}"/>
              </a:ext>
            </a:extLst>
          </p:cNvPr>
          <p:cNvGraphicFramePr/>
          <p:nvPr/>
        </p:nvGraphicFramePr>
        <p:xfrm>
          <a:off xmlns:a="http://schemas.openxmlformats.org/drawingml/2006/main" x="609600" y="3257550"/>
          <a:ext xmlns:a="http://schemas.openxmlformats.org/drawingml/2006/main" cx="5905500" cy="2286000"/>
        </p:xfrm>
        <a:graphic xmlns:a="http://schemas.openxmlformats.org/drawingml/2006/main">
          <a:graphicData uri="http://schemas.openxmlformats.org/drawingml/2006/table">
            <a:tbl>
              <a:tblPr/>
              <a:tblGrid>
                <a:gridCol w="4381500"/>
                <a:gridCol w="1524000"/>
              </a:tblGrid>
              <a:tr h="457200">
                <a:tc>
                  <a:txBody>
                    <a:bodyPr lIns="95250" tIns="95250" rIns="95250" bIns="95250"/>
                    <a:lstStyle/>
                    <a:p>
                      <a:r>
                        <a:rPr sz="1800" b="1">
                          <a:solidFill>
                            <a:srgbClr val="FFFFFF"/>
                          </a:solidFill>
                          <a:latin typeface="Arial"/>
                          <a:ea typeface="Arial"/>
                          <a:cs typeface="Arial"/>
                        </a:rPr>
                        <a:t>Giá vốn mỗi bài</a:t>
                      </a:r>
                    </a:p>
                  </a:txBody>
                  <a:tcPr marL="91440" marR="91440" marT="45720" marB="45720" anchor="ctr">
                    <a:lnL w="9525">
                      <a:solidFill>
                        <a:srgbClr val="CDD4DA"/>
                      </a:solidFill>
                      <a:prstDash val="solid"/>
                    </a:lnL>
                    <a:lnR w="9525">
                      <a:solidFill>
                        <a:srgbClr val="CDD4DA"/>
                      </a:solidFill>
                      <a:prstDash val="solid"/>
                    </a:lnR>
                    <a:lnT w="9525">
                      <a:solidFill>
                        <a:srgbClr val="CDD4DA"/>
                      </a:solidFill>
                      <a:prstDash val="solid"/>
                    </a:lnT>
                    <a:lnB w="9525">
                      <a:solidFill>
                        <a:srgbClr val="CDD4DA"/>
                      </a:solidFill>
                      <a:prstDash val="solid"/>
                    </a:lnB>
                    <a:solidFill>
                      <a:srgbClr val="162D46"/>
                    </a:solidFill>
                  </a:tcPr>
                </a:tc>
                <a:tc>
                  <a:txBody>
                    <a:bodyPr lIns="95250" tIns="95250" rIns="95250" bIns="95250"/>
                    <a:lstStyle/>
                    <a:p>
                      <a:r>
                        <a:rPr sz="1800" b="1">
                          <a:solidFill>
                            <a:srgbClr val="FFFFFF"/>
                          </a:solidFill>
                          <a:latin typeface="Arial"/>
                          <a:ea typeface="Arial"/>
                          <a:cs typeface="Arial"/>
                        </a:rPr>
                        <a:t>Đồng</a:t>
                      </a:r>
                    </a:p>
                  </a:txBody>
                  <a:tcPr marL="91440" marR="91440" marT="45720" marB="45720" anchor="ctr">
                    <a:lnR w="9525">
                      <a:solidFill>
                        <a:srgbClr val="CDD4DA"/>
                      </a:solidFill>
                      <a:prstDash val="solid"/>
                    </a:lnR>
                    <a:lnT w="9525">
                      <a:solidFill>
                        <a:srgbClr val="CDD4DA"/>
                      </a:solidFill>
                      <a:prstDash val="solid"/>
                    </a:lnT>
                    <a:lnB w="9525">
                      <a:solidFill>
                        <a:srgbClr val="CDD4DA"/>
                      </a:solidFill>
                      <a:prstDash val="solid"/>
                    </a:lnB>
                    <a:solidFill>
                      <a:srgbClr val="162D46"/>
                    </a:solidFill>
                  </a:tcPr>
                </a:tc>
              </a:tr>
              <a:tr h="457200">
                <a:tc>
                  <a:txBody>
                    <a:bodyPr lIns="95250" tIns="95250" rIns="95250" bIns="95250"/>
                    <a:lstStyle/>
                    <a:p>
                      <a:r>
                        <a:rPr sz="1800" b="0">
                          <a:solidFill>
                            <a:srgbClr val="162D46"/>
                          </a:solidFill>
                          <a:latin typeface="Arial"/>
                          <a:ea typeface="Arial"/>
                          <a:cs typeface="Arial"/>
                        </a:rPr>
                        <a:t>Gọi mô hình (kể cả gọi lại)</a:t>
                      </a:r>
                    </a:p>
                  </a:txBody>
                  <a:tcPr marL="91440" marR="91440" marT="45720" marB="45720" anchor="ctr">
                    <a:lnL w="9525">
                      <a:solidFill>
                        <a:srgbClr val="CDD4DA"/>
                      </a:solidFill>
                      <a:prstDash val="solid"/>
                    </a:lnL>
                    <a:lnR w="9525">
                      <a:solidFill>
                        <a:srgbClr val="CDD4DA"/>
                      </a:solidFill>
                      <a:prstDash val="solid"/>
                    </a:lnR>
                    <a:lnB w="9525">
                      <a:solidFill>
                        <a:srgbClr val="CDD4DA"/>
                      </a:solidFill>
                      <a:prstDash val="solid"/>
                    </a:lnB>
                    <a:solidFill>
                      <a:srgbClr val="F8F7F3"/>
                    </a:solidFill>
                  </a:tcPr>
                </a:tc>
                <a:tc>
                  <a:txBody>
                    <a:bodyPr lIns="95250" tIns="95250" rIns="95250" bIns="95250"/>
                    <a:lstStyle/>
                    <a:p>
                      <a:r>
                        <a:rPr sz="1800" b="0">
                          <a:solidFill>
                            <a:srgbClr val="162D46"/>
                          </a:solidFill>
                          <a:latin typeface="Arial"/>
                          <a:ea typeface="Arial"/>
                          <a:cs typeface="Arial"/>
                        </a:rPr>
                        <a:t>769</a:t>
                      </a:r>
                    </a:p>
                  </a:txBody>
                  <a:tcPr marL="91440" marR="91440" marT="45720" marB="45720" anchor="ctr">
                    <a:lnR w="9525">
                      <a:solidFill>
                        <a:srgbClr val="CDD4DA"/>
                      </a:solidFill>
                      <a:prstDash val="solid"/>
                    </a:lnR>
                    <a:lnB w="9525">
                      <a:solidFill>
                        <a:srgbClr val="CDD4DA"/>
                      </a:solidFill>
                      <a:prstDash val="solid"/>
                    </a:lnB>
                    <a:solidFill>
                      <a:srgbClr val="F8F7F3"/>
                    </a:solidFill>
                  </a:tcPr>
                </a:tc>
              </a:tr>
              <a:tr h="457200">
                <a:tc>
                  <a:txBody>
                    <a:bodyPr lIns="95250" tIns="95250" rIns="95250" bIns="95250"/>
                    <a:lstStyle/>
                    <a:p>
                      <a:r>
                        <a:rPr sz="1800" b="0">
                          <a:solidFill>
                            <a:srgbClr val="162D46"/>
                          </a:solidFill>
                          <a:latin typeface="Arial"/>
                          <a:ea typeface="Arial"/>
                          <a:cs typeface="Arial"/>
                        </a:rPr>
                        <a:t>Giáo viên kiểm tra</a:t>
                      </a:r>
                    </a:p>
                  </a:txBody>
                  <a:tcPr marL="91440" marR="91440" marT="45720" marB="45720" anchor="ctr">
                    <a:lnL w="9525">
                      <a:solidFill>
                        <a:srgbClr val="CDD4DA"/>
                      </a:solidFill>
                      <a:prstDash val="solid"/>
                    </a:lnL>
                    <a:lnR w="9525">
                      <a:solidFill>
                        <a:srgbClr val="CDD4DA"/>
                      </a:solidFill>
                      <a:prstDash val="solid"/>
                    </a:lnR>
                    <a:lnB w="9525">
                      <a:solidFill>
                        <a:srgbClr val="CDD4DA"/>
                      </a:solidFill>
                      <a:prstDash val="solid"/>
                    </a:lnB>
                    <a:solidFill>
                      <a:srgbClr val="F8F7F3"/>
                    </a:solidFill>
                  </a:tcPr>
                </a:tc>
                <a:tc>
                  <a:txBody>
                    <a:bodyPr lIns="95250" tIns="95250" rIns="95250" bIns="95250"/>
                    <a:lstStyle/>
                    <a:p>
                      <a:r>
                        <a:rPr sz="1800" b="0">
                          <a:solidFill>
                            <a:srgbClr val="162D46"/>
                          </a:solidFill>
                          <a:latin typeface="Arial"/>
                          <a:ea typeface="Arial"/>
                          <a:cs typeface="Arial"/>
                        </a:rPr>
                        <a:t>600</a:t>
                      </a:r>
                    </a:p>
                  </a:txBody>
                  <a:tcPr marL="91440" marR="91440" marT="45720" marB="45720" anchor="ctr">
                    <a:lnR w="9525">
                      <a:solidFill>
                        <a:srgbClr val="CDD4DA"/>
                      </a:solidFill>
                      <a:prstDash val="solid"/>
                    </a:lnR>
                    <a:lnB w="9525">
                      <a:solidFill>
                        <a:srgbClr val="CDD4DA"/>
                      </a:solidFill>
                      <a:prstDash val="solid"/>
                    </a:lnB>
                    <a:solidFill>
                      <a:srgbClr val="F8F7F3"/>
                    </a:solidFill>
                  </a:tcPr>
                </a:tc>
              </a:tr>
              <a:tr h="457200">
                <a:tc>
                  <a:txBody>
                    <a:bodyPr lIns="95250" tIns="95250" rIns="95250" bIns="95250"/>
                    <a:lstStyle/>
                    <a:p>
                      <a:r>
                        <a:rPr sz="1800" b="0">
                          <a:solidFill>
                            <a:srgbClr val="162D46"/>
                          </a:solidFill>
                          <a:latin typeface="Arial"/>
                          <a:ea typeface="Arial"/>
                          <a:cs typeface="Arial"/>
                        </a:rPr>
                        <a:t>Hạ tầng, đánh giá, khác</a:t>
                      </a:r>
                    </a:p>
                  </a:txBody>
                  <a:tcPr marL="91440" marR="91440" marT="45720" marB="45720" anchor="ctr">
                    <a:lnL w="9525">
                      <a:solidFill>
                        <a:srgbClr val="CDD4DA"/>
                      </a:solidFill>
                      <a:prstDash val="solid"/>
                    </a:lnL>
                    <a:lnR w="9525">
                      <a:solidFill>
                        <a:srgbClr val="CDD4DA"/>
                      </a:solidFill>
                      <a:prstDash val="solid"/>
                    </a:lnR>
                    <a:lnB w="9525">
                      <a:solidFill>
                        <a:srgbClr val="CDD4DA"/>
                      </a:solidFill>
                      <a:prstDash val="solid"/>
                    </a:lnB>
                    <a:solidFill>
                      <a:srgbClr val="F8F7F3"/>
                    </a:solidFill>
                  </a:tcPr>
                </a:tc>
                <a:tc>
                  <a:txBody>
                    <a:bodyPr lIns="95250" tIns="95250" rIns="95250" bIns="95250"/>
                    <a:lstStyle/>
                    <a:p>
                      <a:r>
                        <a:rPr sz="1800" b="0">
                          <a:solidFill>
                            <a:srgbClr val="162D46"/>
                          </a:solidFill>
                          <a:latin typeface="Arial"/>
                          <a:ea typeface="Arial"/>
                          <a:cs typeface="Arial"/>
                        </a:rPr>
                        <a:t>250</a:t>
                      </a:r>
                    </a:p>
                  </a:txBody>
                  <a:tcPr marL="91440" marR="91440" marT="45720" marB="45720" anchor="ctr">
                    <a:lnR w="9525">
                      <a:solidFill>
                        <a:srgbClr val="CDD4DA"/>
                      </a:solidFill>
                      <a:prstDash val="solid"/>
                    </a:lnR>
                    <a:lnB w="9525">
                      <a:solidFill>
                        <a:srgbClr val="CDD4DA"/>
                      </a:solidFill>
                      <a:prstDash val="solid"/>
                    </a:lnB>
                    <a:solidFill>
                      <a:srgbClr val="F8F7F3"/>
                    </a:solidFill>
                  </a:tcPr>
                </a:tc>
              </a:tr>
              <a:tr h="457200">
                <a:tc>
                  <a:txBody>
                    <a:bodyPr lIns="95250" tIns="95250" rIns="95250" bIns="95250"/>
                    <a:lstStyle/>
                    <a:p>
                      <a:r>
                        <a:rPr sz="1800" b="0">
                          <a:solidFill>
                            <a:srgbClr val="162D46"/>
                          </a:solidFill>
                          <a:latin typeface="Arial"/>
                          <a:ea typeface="Arial"/>
                          <a:cs typeface="Arial"/>
                        </a:rPr>
                        <a:t>Tổng</a:t>
                      </a:r>
                    </a:p>
                  </a:txBody>
                  <a:tcPr marL="91440" marR="91440" marT="45720" marB="45720" anchor="ctr">
                    <a:lnL w="9525">
                      <a:solidFill>
                        <a:srgbClr val="CDD4DA"/>
                      </a:solidFill>
                      <a:prstDash val="solid"/>
                    </a:lnL>
                    <a:lnR w="9525">
                      <a:solidFill>
                        <a:srgbClr val="CDD4DA"/>
                      </a:solidFill>
                      <a:prstDash val="solid"/>
                    </a:lnR>
                    <a:lnB w="9525">
                      <a:solidFill>
                        <a:srgbClr val="CDD4DA"/>
                      </a:solidFill>
                      <a:prstDash val="solid"/>
                    </a:lnB>
                    <a:solidFill>
                      <a:srgbClr val="F8F7F3"/>
                    </a:solidFill>
                  </a:tcPr>
                </a:tc>
                <a:tc>
                  <a:txBody>
                    <a:bodyPr lIns="95250" tIns="95250" rIns="95250" bIns="95250"/>
                    <a:lstStyle/>
                    <a:p>
                      <a:r>
                        <a:rPr sz="1800" b="0">
                          <a:solidFill>
                            <a:srgbClr val="162D46"/>
                          </a:solidFill>
                          <a:latin typeface="Arial"/>
                          <a:ea typeface="Arial"/>
                          <a:cs typeface="Arial"/>
                        </a:rPr>
                        <a:t>1.619</a:t>
                      </a:r>
                    </a:p>
                  </a:txBody>
                  <a:tcPr marL="91440" marR="91440" marT="45720" marB="45720" anchor="ctr">
                    <a:lnR w="9525">
                      <a:solidFill>
                        <a:srgbClr val="CDD4DA"/>
                      </a:solidFill>
                      <a:prstDash val="solid"/>
                    </a:lnR>
                    <a:lnB w="9525">
                      <a:solidFill>
                        <a:srgbClr val="CDD4DA"/>
                      </a:solidFill>
                      <a:prstDash val="solid"/>
                    </a:lnB>
                    <a:solidFill>
                      <a:srgbClr val="F8F7F3"/>
                    </a:solidFill>
                  </a:tcPr>
                </a:tc>
              </a:tr>
            </a:tbl>
          </a:graphicData>
        </a:graphic>
      </p:graphicFrame>
      <p:sp>
        <p:nvSpPr>
          <p:cNvPr id="5" name="">
            <a:extLst xmlns:a="http://schemas.openxmlformats.org/drawingml/2006/main">
              <a:ext uri="{FF2B5EF4-FFF2-40B4-BE49-F238E27FC236}">
                <a16:creationId xmlns:a16="http://schemas.microsoft.com/office/drawing/2014/main" id="{7C974CE2-ADF2-428A-A8B9-AB6B0C53D7E7}"/>
              </a:ext>
            </a:extLst>
          </p:cNvPr>
          <p:cNvSpPr>
            <a:spLocks xmlns:a="http://schemas.openxmlformats.org/drawingml/2006/main" noGrp="1"/>
          </p:cNvSpPr>
          <p:nvPr/>
        </p:nvSpPr>
        <p:spPr>
          <a:xfrm xmlns:a="http://schemas.openxmlformats.org/drawingml/2006/main">
            <a:off x="7105650" y="3314700"/>
            <a:ext cx="4191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162D46"/>
                </a:solidFill>
                <a:latin typeface="Arial"/>
                <a:ea typeface="Arial"/>
                <a:cs typeface="Arial"/>
              </a:defRPr>
            </a:defPPr>
          </a:lstStyle>
          <a:p xmlns:a="http://schemas.openxmlformats.org/drawingml/2006/main">
            <a:pPr>
              <a:defRPr sz="3600" b="1">
                <a:solidFill>
                  <a:srgbClr val="162D46"/>
                </a:solidFill>
                <a:latin typeface="Arial"/>
                <a:ea typeface="Arial"/>
                <a:cs typeface="Arial"/>
              </a:defRPr>
            </a:pPr>
            <a:r>
              <a:rPr sz="3600" b="1">
                <a:solidFill>
                  <a:srgbClr val="162D46"/>
                </a:solidFill>
                <a:latin typeface="Arial"/>
                <a:ea typeface="Arial"/>
                <a:cs typeface="Arial"/>
              </a:rPr>
              <a:t>75,13%</a:t>
            </a:r>
          </a:p>
        </p:txBody>
      </p:sp>
      <p:sp>
        <p:nvSpPr>
          <p:cNvPr id="6" name="">
            <a:extLst xmlns:a="http://schemas.openxmlformats.org/drawingml/2006/main">
              <a:ext uri="{FF2B5EF4-FFF2-40B4-BE49-F238E27FC236}">
                <a16:creationId xmlns:a16="http://schemas.microsoft.com/office/drawing/2014/main" id="{32B78A79-EF4E-4B41-B820-9D5CC9BC6B25}"/>
              </a:ext>
            </a:extLst>
          </p:cNvPr>
          <p:cNvSpPr>
            <a:spLocks xmlns:a="http://schemas.openxmlformats.org/drawingml/2006/main" noGrp="1"/>
          </p:cNvSpPr>
          <p:nvPr/>
        </p:nvSpPr>
        <p:spPr>
          <a:xfrm xmlns:a="http://schemas.openxmlformats.org/drawingml/2006/main">
            <a:off x="7105650" y="3924300"/>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0">
                <a:solidFill>
                  <a:srgbClr val="162D46"/>
                </a:solidFill>
                <a:latin typeface="Arial"/>
                <a:ea typeface="Arial"/>
                <a:cs typeface="Arial"/>
              </a:defRPr>
            </a:defPPr>
          </a:lstStyle>
          <a:p xmlns:a="http://schemas.openxmlformats.org/drawingml/2006/main">
            <a:pPr>
              <a:defRPr sz="1950" b="0">
                <a:solidFill>
                  <a:srgbClr val="162D46"/>
                </a:solidFill>
                <a:latin typeface="Arial"/>
                <a:ea typeface="Arial"/>
                <a:cs typeface="Arial"/>
              </a:defRPr>
            </a:pPr>
            <a:r>
              <a:rPr sz="1950" b="0">
                <a:solidFill>
                  <a:srgbClr val="162D46"/>
                </a:solidFill>
                <a:latin typeface="Arial"/>
                <a:ea typeface="Arial"/>
                <a:cs typeface="Arial"/>
              </a:rPr>
              <a:t>Biên gộp trước chia đối tác</a:t>
            </a:r>
          </a:p>
        </p:txBody>
      </p:sp>
      <p:sp>
        <p:nvSpPr>
          <p:cNvPr id="7" name="">
            <a:extLst xmlns:a="http://schemas.openxmlformats.org/drawingml/2006/main">
              <a:ext uri="{FF2B5EF4-FFF2-40B4-BE49-F238E27FC236}">
                <a16:creationId xmlns:a16="http://schemas.microsoft.com/office/drawing/2014/main" id="{56490C5D-45FE-4517-AF79-1F941F217B65}"/>
              </a:ext>
            </a:extLst>
          </p:cNvPr>
          <p:cNvSpPr>
            <a:spLocks xmlns:a="http://schemas.openxmlformats.org/drawingml/2006/main" noGrp="1"/>
          </p:cNvSpPr>
          <p:nvPr/>
        </p:nvSpPr>
        <p:spPr>
          <a:xfrm xmlns:a="http://schemas.openxmlformats.org/drawingml/2006/main">
            <a:off x="7105650" y="4476750"/>
            <a:ext cx="4191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A34026"/>
                </a:solidFill>
                <a:latin typeface="Arial"/>
                <a:ea typeface="Arial"/>
                <a:cs typeface="Arial"/>
              </a:defRPr>
            </a:defPPr>
          </a:lstStyle>
          <a:p xmlns:a="http://schemas.openxmlformats.org/drawingml/2006/main">
            <a:pPr>
              <a:defRPr sz="3600" b="1">
                <a:solidFill>
                  <a:srgbClr val="A34026"/>
                </a:solidFill>
                <a:latin typeface="Arial"/>
                <a:ea typeface="Arial"/>
                <a:cs typeface="Arial"/>
              </a:defRPr>
            </a:pPr>
            <a:r>
              <a:rPr sz="3600" b="1">
                <a:solidFill>
                  <a:srgbClr val="A34026"/>
                </a:solidFill>
                <a:latin typeface="Arial"/>
                <a:ea typeface="Arial"/>
                <a:cs typeface="Arial"/>
              </a:rPr>
              <a:t>55,13%</a:t>
            </a:r>
          </a:p>
        </p:txBody>
      </p:sp>
      <p:sp>
        <p:nvSpPr>
          <p:cNvPr id="8" name="">
            <a:extLst xmlns:a="http://schemas.openxmlformats.org/drawingml/2006/main">
              <a:ext uri="{FF2B5EF4-FFF2-40B4-BE49-F238E27FC236}">
                <a16:creationId xmlns:a16="http://schemas.microsoft.com/office/drawing/2014/main" id="{46328906-5B0E-4D55-A6E8-1C8FA8AF7F40}"/>
              </a:ext>
            </a:extLst>
          </p:cNvPr>
          <p:cNvSpPr>
            <a:spLocks xmlns:a="http://schemas.openxmlformats.org/drawingml/2006/main" noGrp="1"/>
          </p:cNvSpPr>
          <p:nvPr/>
        </p:nvSpPr>
        <p:spPr>
          <a:xfrm xmlns:a="http://schemas.openxmlformats.org/drawingml/2006/main">
            <a:off x="7105650" y="5105400"/>
            <a:ext cx="4286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0">
                <a:solidFill>
                  <a:srgbClr val="162D46"/>
                </a:solidFill>
                <a:latin typeface="Arial"/>
                <a:ea typeface="Arial"/>
                <a:cs typeface="Arial"/>
              </a:defRPr>
            </a:defPPr>
          </a:lstStyle>
          <a:p xmlns:a="http://schemas.openxmlformats.org/drawingml/2006/main">
            <a:pPr>
              <a:defRPr sz="1950" b="0">
                <a:solidFill>
                  <a:srgbClr val="162D46"/>
                </a:solidFill>
                <a:latin typeface="Arial"/>
                <a:ea typeface="Arial"/>
                <a:cs typeface="Arial"/>
              </a:defRPr>
            </a:pPr>
            <a:r>
              <a:rPr sz="1950" b="0">
                <a:solidFill>
                  <a:srgbClr val="162D46"/>
                </a:solidFill>
                <a:latin typeface="Arial"/>
                <a:ea typeface="Arial"/>
                <a:cs typeface="Arial"/>
              </a:rPr>
              <a:t>Biên sau chia / doanh thu khách trả</a:t>
            </a:r>
          </a:p>
        </p:txBody>
      </p:sp>
      <p:sp>
        <p:nvSpPr>
          <p:cNvPr id="9" name="">
            <a:extLst xmlns:a="http://schemas.openxmlformats.org/drawingml/2006/main">
              <a:ext uri="{FF2B5EF4-FFF2-40B4-BE49-F238E27FC236}">
                <a16:creationId xmlns:a16="http://schemas.microsoft.com/office/drawing/2014/main" id="{6964FBC6-6ACA-45C3-9C02-3F5FA7CFA0C1}"/>
              </a:ext>
            </a:extLst>
          </p:cNvPr>
          <p:cNvSpPr>
            <a:spLocks xmlns:a="http://schemas.openxmlformats.org/drawingml/2006/main" noGrp="1"/>
          </p:cNvSpPr>
          <p:nvPr/>
        </p:nvSpPr>
        <p:spPr>
          <a:xfrm xmlns:a="http://schemas.openxmlformats.org/drawingml/2006/main">
            <a:off x="609600" y="61150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00" b="0">
                <a:solidFill>
                  <a:srgbClr val="536273"/>
                </a:solidFill>
                <a:latin typeface="Arial"/>
                <a:ea typeface="Arial"/>
                <a:cs typeface="Arial"/>
              </a:defRPr>
            </a:defPPr>
          </a:lstStyle>
          <a:p xmlns:a="http://schemas.openxmlformats.org/drawingml/2006/main">
            <a:pPr>
              <a:defRPr sz="1500" b="0">
                <a:solidFill>
                  <a:srgbClr val="536273"/>
                </a:solidFill>
                <a:latin typeface="Arial"/>
                <a:ea typeface="Arial"/>
                <a:cs typeface="Arial"/>
              </a:defRPr>
            </a:pPr>
            <a:r>
              <a:rPr sz="1500" b="0">
                <a:solidFill>
                  <a:srgbClr val="536273"/>
                </a:solidFill>
                <a:latin typeface="Arial"/>
                <a:ea typeface="Arial"/>
                <a:cs typeface="Arial"/>
              </a:rPr>
              <a:t>Đề bài 2 (giả định) · Nguyễn Văn An · 2A202602776</a:t>
            </a:r>
          </a:p>
        </p:txBody>
      </p:sp>
    </p:spTree>
    <p:extLst>
      <p:ext uri="{BB962C8B-B14F-4D97-AF65-F5344CB8AC3E}">
        <p14:creationId xmlns:p14="http://schemas.microsoft.com/office/powerpoint/2010/main" val="1402773285"/>
      </p:ext>
    </p:extLst>
  </p:cSld>
</p:sld>
</file>

<file path=ppt/slides/slide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96282D3-CBB0-4F55-974F-121257DFE694}"/>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62D46"/>
                </a:solidFill>
                <a:latin typeface="Arial"/>
                <a:ea typeface="Arial"/>
                <a:cs typeface="Arial"/>
              </a:defRPr>
            </a:defPPr>
          </a:lstStyle>
          <a:p xmlns:a="http://schemas.openxmlformats.org/drawingml/2006/main">
            <a:pPr>
              <a:defRPr sz="3300" b="1">
                <a:solidFill>
                  <a:srgbClr val="162D46"/>
                </a:solidFill>
                <a:latin typeface="Arial"/>
                <a:ea typeface="Arial"/>
                <a:cs typeface="Arial"/>
              </a:defRPr>
            </a:pPr>
            <a:r>
              <a:rPr sz="3300" b="1">
                <a:solidFill>
                  <a:srgbClr val="162D46"/>
                </a:solidFill>
                <a:latin typeface="Arial"/>
                <a:ea typeface="Arial"/>
                <a:cs typeface="Arial"/>
              </a:rPr>
              <a:t>Ba kịch bản và rủi ro doanh thu</a:t>
            </a:r>
          </a:p>
        </p:txBody>
      </p:sp>
      <p:graphicFrame>
        <p:nvGraphicFramePr>
          <p:cNvPr id="2" name="">
            <a:extLst xmlns:a="http://schemas.openxmlformats.org/drawingml/2006/main">
              <a:ext uri="{FF2B5EF4-FFF2-40B4-BE49-F238E27FC236}">
                <a16:creationId xmlns:a16="http://schemas.microsoft.com/office/drawing/2014/main" id="{F6CE78BE-AB1A-4BD2-B255-9849BDF97C6B}"/>
              </a:ext>
            </a:extLst>
          </p:cNvPr>
          <p:cNvGraphicFramePr/>
          <p:nvPr/>
        </p:nvGraphicFramePr>
        <p:xfrm>
          <a:off xmlns:a="http://schemas.openxmlformats.org/drawingml/2006/main" x="609600" y="1752600"/>
          <a:ext xmlns:a="http://schemas.openxmlformats.org/drawingml/2006/main" cx="10972800" cy="2247900"/>
        </p:xfrm>
        <a:graphic xmlns:a="http://schemas.openxmlformats.org/drawingml/2006/main">
          <a:graphicData uri="http://schemas.openxmlformats.org/drawingml/2006/table">
            <a:tbl>
              <a:tblPr/>
              <a:tblGrid>
                <a:gridCol w="2571750"/>
                <a:gridCol w="2476500"/>
                <a:gridCol w="3238500"/>
                <a:gridCol w="2686050"/>
              </a:tblGrid>
              <a:tr h="561975">
                <a:tc>
                  <a:txBody>
                    <a:bodyPr lIns="95250" tIns="95250" rIns="95250" bIns="95250"/>
                    <a:lstStyle/>
                    <a:p>
                      <a:r>
                        <a:rPr sz="1800" b="1">
                          <a:solidFill>
                            <a:srgbClr val="FFFFFF"/>
                          </a:solidFill>
                          <a:latin typeface="Arial"/>
                          <a:ea typeface="Arial"/>
                          <a:cs typeface="Arial"/>
                        </a:rPr>
                        <a:t>Kịch bản</a:t>
                      </a:r>
                    </a:p>
                  </a:txBody>
                  <a:tcPr marL="91440" marR="91440" marT="45720" marB="45720" anchor="ctr">
                    <a:lnL w="9525">
                      <a:solidFill>
                        <a:srgbClr val="CDD4DA"/>
                      </a:solidFill>
                      <a:prstDash val="solid"/>
                    </a:lnL>
                    <a:lnR w="9525">
                      <a:solidFill>
                        <a:srgbClr val="CDD4DA"/>
                      </a:solidFill>
                      <a:prstDash val="solid"/>
                    </a:lnR>
                    <a:lnT w="9525">
                      <a:solidFill>
                        <a:srgbClr val="CDD4DA"/>
                      </a:solidFill>
                      <a:prstDash val="solid"/>
                    </a:lnT>
                    <a:lnB w="9525">
                      <a:solidFill>
                        <a:srgbClr val="CDD4DA"/>
                      </a:solidFill>
                      <a:prstDash val="solid"/>
                    </a:lnB>
                    <a:solidFill>
                      <a:srgbClr val="162D46"/>
                    </a:solidFill>
                  </a:tcPr>
                </a:tc>
                <a:tc>
                  <a:txBody>
                    <a:bodyPr lIns="95250" tIns="95250" rIns="95250" bIns="95250"/>
                    <a:lstStyle/>
                    <a:p>
                      <a:r>
                        <a:rPr sz="1800" b="1">
                          <a:solidFill>
                            <a:srgbClr val="FFFFFF"/>
                          </a:solidFill>
                          <a:latin typeface="Arial"/>
                          <a:ea typeface="Arial"/>
                          <a:cs typeface="Arial"/>
                        </a:rPr>
                        <a:t>NPV 24 tháng</a:t>
                      </a:r>
                    </a:p>
                    <a:p>
                      <a:r>
                        <a:rPr sz="1800" b="1">
                          <a:solidFill>
                            <a:srgbClr val="FFFFFF"/>
                          </a:solidFill>
                          <a:latin typeface="Arial"/>
                          <a:ea typeface="Arial"/>
                          <a:cs typeface="Arial"/>
                        </a:rPr>
                        <a:t>(tỷ đồng)</a:t>
                      </a:r>
                    </a:p>
                  </a:txBody>
                  <a:tcPr marL="91440" marR="91440" marT="45720" marB="45720" anchor="ctr">
                    <a:lnR w="9525">
                      <a:solidFill>
                        <a:srgbClr val="CDD4DA"/>
                      </a:solidFill>
                      <a:prstDash val="solid"/>
                    </a:lnR>
                    <a:lnT w="9525">
                      <a:solidFill>
                        <a:srgbClr val="CDD4DA"/>
                      </a:solidFill>
                      <a:prstDash val="solid"/>
                    </a:lnT>
                    <a:lnB w="9525">
                      <a:solidFill>
                        <a:srgbClr val="CDD4DA"/>
                      </a:solidFill>
                      <a:prstDash val="solid"/>
                    </a:lnB>
                    <a:solidFill>
                      <a:srgbClr val="162D46"/>
                    </a:solidFill>
                  </a:tcPr>
                </a:tc>
                <a:tc>
                  <a:txBody>
                    <a:bodyPr lIns="95250" tIns="95250" rIns="95250" bIns="95250"/>
                    <a:lstStyle/>
                    <a:p>
                      <a:r>
                        <a:rPr sz="1800" b="1">
                          <a:solidFill>
                            <a:srgbClr val="FFFFFF"/>
                          </a:solidFill>
                          <a:latin typeface="Arial"/>
                          <a:ea typeface="Arial"/>
                          <a:cs typeface="Arial"/>
                        </a:rPr>
                        <a:t>Hết tiền</a:t>
                      </a:r>
                    </a:p>
                  </a:txBody>
                  <a:tcPr marL="91440" marR="91440" marT="45720" marB="45720" anchor="ctr">
                    <a:lnR w="9525">
                      <a:solidFill>
                        <a:srgbClr val="CDD4DA"/>
                      </a:solidFill>
                      <a:prstDash val="solid"/>
                    </a:lnR>
                    <a:lnT w="9525">
                      <a:solidFill>
                        <a:srgbClr val="CDD4DA"/>
                      </a:solidFill>
                      <a:prstDash val="solid"/>
                    </a:lnT>
                    <a:lnB w="9525">
                      <a:solidFill>
                        <a:srgbClr val="CDD4DA"/>
                      </a:solidFill>
                      <a:prstDash val="solid"/>
                    </a:lnB>
                    <a:solidFill>
                      <a:srgbClr val="162D46"/>
                    </a:solidFill>
                  </a:tcPr>
                </a:tc>
                <a:tc>
                  <a:txBody>
                    <a:bodyPr lIns="95250" tIns="95250" rIns="95250" bIns="95250"/>
                    <a:lstStyle/>
                    <a:p>
                      <a:r>
                        <a:rPr sz="1800" b="1">
                          <a:solidFill>
                            <a:srgbClr val="FFFFFF"/>
                          </a:solidFill>
                          <a:latin typeface="Arial"/>
                          <a:ea typeface="Arial"/>
                          <a:cs typeface="Arial"/>
                        </a:rPr>
                        <a:t>Hoàn vốn</a:t>
                      </a:r>
                    </a:p>
                    <a:p>
                      <a:r>
                        <a:rPr sz="1800" b="1">
                          <a:solidFill>
                            <a:srgbClr val="FFFFFF"/>
                          </a:solidFill>
                          <a:latin typeface="Arial"/>
                          <a:ea typeface="Arial"/>
                          <a:cs typeface="Arial"/>
                        </a:rPr>
                        <a:t>dự án</a:t>
                      </a:r>
                    </a:p>
                  </a:txBody>
                  <a:tcPr marL="91440" marR="91440" marT="45720" marB="45720" anchor="ctr">
                    <a:lnR w="9525">
                      <a:solidFill>
                        <a:srgbClr val="CDD4DA"/>
                      </a:solidFill>
                      <a:prstDash val="solid"/>
                    </a:lnR>
                    <a:lnT w="9525">
                      <a:solidFill>
                        <a:srgbClr val="CDD4DA"/>
                      </a:solidFill>
                      <a:prstDash val="solid"/>
                    </a:lnT>
                    <a:lnB w="9525">
                      <a:solidFill>
                        <a:srgbClr val="CDD4DA"/>
                      </a:solidFill>
                      <a:prstDash val="solid"/>
                    </a:lnB>
                    <a:solidFill>
                      <a:srgbClr val="162D46"/>
                    </a:solidFill>
                  </a:tcPr>
                </a:tc>
              </a:tr>
              <a:tr h="561975">
                <a:tc>
                  <a:txBody>
                    <a:bodyPr lIns="95250" tIns="95250" rIns="95250" bIns="95250"/>
                    <a:lstStyle/>
                    <a:p>
                      <a:r>
                        <a:rPr sz="1800" b="0">
                          <a:solidFill>
                            <a:srgbClr val="162D46"/>
                          </a:solidFill>
                          <a:latin typeface="Arial"/>
                          <a:ea typeface="Arial"/>
                          <a:cs typeface="Arial"/>
                        </a:rPr>
                        <a:t>Lạc quan</a:t>
                      </a:r>
                    </a:p>
                  </a:txBody>
                  <a:tcPr marL="91440" marR="91440" marT="45720" marB="45720" anchor="ctr">
                    <a:lnL w="9525">
                      <a:solidFill>
                        <a:srgbClr val="CDD4DA"/>
                      </a:solidFill>
                      <a:prstDash val="solid"/>
                    </a:lnL>
                    <a:lnR w="9525">
                      <a:solidFill>
                        <a:srgbClr val="CDD4DA"/>
                      </a:solidFill>
                      <a:prstDash val="solid"/>
                    </a:lnR>
                    <a:lnB w="9525">
                      <a:solidFill>
                        <a:srgbClr val="CDD4DA"/>
                      </a:solidFill>
                      <a:prstDash val="solid"/>
                    </a:lnB>
                    <a:solidFill>
                      <a:srgbClr val="F8F7F3"/>
                    </a:solidFill>
                  </a:tcPr>
                </a:tc>
                <a:tc>
                  <a:txBody>
                    <a:bodyPr lIns="95250" tIns="95250" rIns="95250" bIns="95250"/>
                    <a:lstStyle/>
                    <a:p>
                      <a:r>
                        <a:rPr sz="1800" b="0">
                          <a:solidFill>
                            <a:srgbClr val="162D46"/>
                          </a:solidFill>
                          <a:latin typeface="Arial"/>
                          <a:ea typeface="Arial"/>
                          <a:cs typeface="Arial"/>
                        </a:rPr>
                        <a:t>+15,025</a:t>
                      </a:r>
                    </a:p>
                  </a:txBody>
                  <a:tcPr marL="91440" marR="91440" marT="45720" marB="45720" anchor="ctr">
                    <a:lnR w="9525">
                      <a:solidFill>
                        <a:srgbClr val="CDD4DA"/>
                      </a:solidFill>
                      <a:prstDash val="solid"/>
                    </a:lnR>
                    <a:lnB w="9525">
                      <a:solidFill>
                        <a:srgbClr val="CDD4DA"/>
                      </a:solidFill>
                      <a:prstDash val="solid"/>
                    </a:lnB>
                    <a:solidFill>
                      <a:srgbClr val="F8F7F3"/>
                    </a:solidFill>
                  </a:tcPr>
                </a:tc>
                <a:tc>
                  <a:txBody>
                    <a:bodyPr lIns="95250" tIns="95250" rIns="95250" bIns="95250"/>
                    <a:lstStyle/>
                    <a:p>
                      <a:r>
                        <a:rPr sz="1800" b="0">
                          <a:solidFill>
                            <a:srgbClr val="162D46"/>
                          </a:solidFill>
                          <a:latin typeface="Arial"/>
                          <a:ea typeface="Arial"/>
                          <a:cs typeface="Arial"/>
                        </a:rPr>
                        <a:t>Không trong 24 tháng</a:t>
                      </a:r>
                    </a:p>
                  </a:txBody>
                  <a:tcPr marL="91440" marR="91440" marT="45720" marB="45720" anchor="ctr">
                    <a:lnR w="9525">
                      <a:solidFill>
                        <a:srgbClr val="CDD4DA"/>
                      </a:solidFill>
                      <a:prstDash val="solid"/>
                    </a:lnR>
                    <a:lnB w="9525">
                      <a:solidFill>
                        <a:srgbClr val="CDD4DA"/>
                      </a:solidFill>
                      <a:prstDash val="solid"/>
                    </a:lnB>
                    <a:solidFill>
                      <a:srgbClr val="F8F7F3"/>
                    </a:solidFill>
                  </a:tcPr>
                </a:tc>
                <a:tc>
                  <a:txBody>
                    <a:bodyPr lIns="95250" tIns="95250" rIns="95250" bIns="95250"/>
                    <a:lstStyle/>
                    <a:p>
                      <a:r>
                        <a:rPr sz="1800" b="0">
                          <a:solidFill>
                            <a:srgbClr val="162D46"/>
                          </a:solidFill>
                          <a:latin typeface="Arial"/>
                          <a:ea typeface="Arial"/>
                          <a:cs typeface="Arial"/>
                        </a:rPr>
                        <a:t>Tháng 10</a:t>
                      </a:r>
                    </a:p>
                  </a:txBody>
                  <a:tcPr marL="91440" marR="91440" marT="45720" marB="45720" anchor="ctr">
                    <a:lnR w="9525">
                      <a:solidFill>
                        <a:srgbClr val="CDD4DA"/>
                      </a:solidFill>
                      <a:prstDash val="solid"/>
                    </a:lnR>
                    <a:lnB w="9525">
                      <a:solidFill>
                        <a:srgbClr val="CDD4DA"/>
                      </a:solidFill>
                      <a:prstDash val="solid"/>
                    </a:lnB>
                    <a:solidFill>
                      <a:srgbClr val="F8F7F3"/>
                    </a:solidFill>
                  </a:tcPr>
                </a:tc>
              </a:tr>
              <a:tr h="561975">
                <a:tc>
                  <a:txBody>
                    <a:bodyPr lIns="95250" tIns="95250" rIns="95250" bIns="95250"/>
                    <a:lstStyle/>
                    <a:p>
                      <a:r>
                        <a:rPr sz="1800" b="0">
                          <a:solidFill>
                            <a:srgbClr val="162D46"/>
                          </a:solidFill>
                          <a:latin typeface="Arial"/>
                          <a:ea typeface="Arial"/>
                          <a:cs typeface="Arial"/>
                        </a:rPr>
                        <a:t>Cơ sở</a:t>
                      </a:r>
                    </a:p>
                  </a:txBody>
                  <a:tcPr marL="91440" marR="91440" marT="45720" marB="45720" anchor="ctr">
                    <a:lnL w="9525">
                      <a:solidFill>
                        <a:srgbClr val="CDD4DA"/>
                      </a:solidFill>
                      <a:prstDash val="solid"/>
                    </a:lnL>
                    <a:lnR w="9525">
                      <a:solidFill>
                        <a:srgbClr val="CDD4DA"/>
                      </a:solidFill>
                      <a:prstDash val="solid"/>
                    </a:lnR>
                    <a:lnB w="9525">
                      <a:solidFill>
                        <a:srgbClr val="CDD4DA"/>
                      </a:solidFill>
                      <a:prstDash val="solid"/>
                    </a:lnB>
                    <a:solidFill>
                      <a:srgbClr val="F8F7F3"/>
                    </a:solidFill>
                  </a:tcPr>
                </a:tc>
                <a:tc>
                  <a:txBody>
                    <a:bodyPr lIns="95250" tIns="95250" rIns="95250" bIns="95250"/>
                    <a:lstStyle/>
                    <a:p>
                      <a:r>
                        <a:rPr sz="1800" b="0">
                          <a:solidFill>
                            <a:srgbClr val="162D46"/>
                          </a:solidFill>
                          <a:latin typeface="Arial"/>
                          <a:ea typeface="Arial"/>
                          <a:cs typeface="Arial"/>
                        </a:rPr>
                        <a:t>+3,513</a:t>
                      </a:r>
                    </a:p>
                  </a:txBody>
                  <a:tcPr marL="91440" marR="91440" marT="45720" marB="45720" anchor="ctr">
                    <a:lnR w="9525">
                      <a:solidFill>
                        <a:srgbClr val="CDD4DA"/>
                      </a:solidFill>
                      <a:prstDash val="solid"/>
                    </a:lnR>
                    <a:lnB w="9525">
                      <a:solidFill>
                        <a:srgbClr val="CDD4DA"/>
                      </a:solidFill>
                      <a:prstDash val="solid"/>
                    </a:lnB>
                    <a:solidFill>
                      <a:srgbClr val="F8F7F3"/>
                    </a:solidFill>
                  </a:tcPr>
                </a:tc>
                <a:tc>
                  <a:txBody>
                    <a:bodyPr lIns="95250" tIns="95250" rIns="95250" bIns="95250"/>
                    <a:lstStyle/>
                    <a:p>
                      <a:r>
                        <a:rPr sz="1800" b="0">
                          <a:solidFill>
                            <a:srgbClr val="162D46"/>
                          </a:solidFill>
                          <a:latin typeface="Arial"/>
                          <a:ea typeface="Arial"/>
                          <a:cs typeface="Arial"/>
                        </a:rPr>
                        <a:t>Không trong 24 tháng</a:t>
                      </a:r>
                    </a:p>
                  </a:txBody>
                  <a:tcPr marL="91440" marR="91440" marT="45720" marB="45720" anchor="ctr">
                    <a:lnR w="9525">
                      <a:solidFill>
                        <a:srgbClr val="CDD4DA"/>
                      </a:solidFill>
                      <a:prstDash val="solid"/>
                    </a:lnR>
                    <a:lnB w="9525">
                      <a:solidFill>
                        <a:srgbClr val="CDD4DA"/>
                      </a:solidFill>
                      <a:prstDash val="solid"/>
                    </a:lnB>
                    <a:solidFill>
                      <a:srgbClr val="F8F7F3"/>
                    </a:solidFill>
                  </a:tcPr>
                </a:tc>
                <a:tc>
                  <a:txBody>
                    <a:bodyPr lIns="95250" tIns="95250" rIns="95250" bIns="95250"/>
                    <a:lstStyle/>
                    <a:p>
                      <a:r>
                        <a:rPr sz="1800" b="0">
                          <a:solidFill>
                            <a:srgbClr val="162D46"/>
                          </a:solidFill>
                          <a:latin typeface="Arial"/>
                          <a:ea typeface="Arial"/>
                          <a:cs typeface="Arial"/>
                        </a:rPr>
                        <a:t>Tháng 15</a:t>
                      </a:r>
                    </a:p>
                  </a:txBody>
                  <a:tcPr marL="91440" marR="91440" marT="45720" marB="45720" anchor="ctr">
                    <a:lnR w="9525">
                      <a:solidFill>
                        <a:srgbClr val="CDD4DA"/>
                      </a:solidFill>
                      <a:prstDash val="solid"/>
                    </a:lnR>
                    <a:lnB w="9525">
                      <a:solidFill>
                        <a:srgbClr val="CDD4DA"/>
                      </a:solidFill>
                      <a:prstDash val="solid"/>
                    </a:lnB>
                    <a:solidFill>
                      <a:srgbClr val="F8F7F3"/>
                    </a:solidFill>
                  </a:tcPr>
                </a:tc>
              </a:tr>
              <a:tr h="561975">
                <a:tc>
                  <a:txBody>
                    <a:bodyPr lIns="95250" tIns="95250" rIns="95250" bIns="95250"/>
                    <a:lstStyle/>
                    <a:p>
                      <a:r>
                        <a:rPr sz="1800" b="0">
                          <a:solidFill>
                            <a:srgbClr val="162D46"/>
                          </a:solidFill>
                          <a:latin typeface="Arial"/>
                          <a:ea typeface="Arial"/>
                          <a:cs typeface="Arial"/>
                        </a:rPr>
                        <a:t>Xấu</a:t>
                      </a:r>
                    </a:p>
                  </a:txBody>
                  <a:tcPr marL="91440" marR="91440" marT="45720" marB="45720" anchor="ctr">
                    <a:lnL w="9525">
                      <a:solidFill>
                        <a:srgbClr val="CDD4DA"/>
                      </a:solidFill>
                      <a:prstDash val="solid"/>
                    </a:lnL>
                    <a:lnR w="9525">
                      <a:solidFill>
                        <a:srgbClr val="CDD4DA"/>
                      </a:solidFill>
                      <a:prstDash val="solid"/>
                    </a:lnR>
                    <a:lnB w="9525">
                      <a:solidFill>
                        <a:srgbClr val="CDD4DA"/>
                      </a:solidFill>
                      <a:prstDash val="solid"/>
                    </a:lnB>
                    <a:solidFill>
                      <a:srgbClr val="F8F7F3"/>
                    </a:solidFill>
                  </a:tcPr>
                </a:tc>
                <a:tc>
                  <a:txBody>
                    <a:bodyPr lIns="95250" tIns="95250" rIns="95250" bIns="95250"/>
                    <a:lstStyle/>
                    <a:p>
                      <a:r>
                        <a:rPr sz="1800" b="0">
                          <a:solidFill>
                            <a:srgbClr val="162D46"/>
                          </a:solidFill>
                          <a:latin typeface="Arial"/>
                          <a:ea typeface="Arial"/>
                          <a:cs typeface="Arial"/>
                        </a:rPr>
                        <a:t>−3,234</a:t>
                      </a:r>
                    </a:p>
                  </a:txBody>
                  <a:tcPr marL="91440" marR="91440" marT="45720" marB="45720" anchor="ctr">
                    <a:lnR w="9525">
                      <a:solidFill>
                        <a:srgbClr val="CDD4DA"/>
                      </a:solidFill>
                      <a:prstDash val="solid"/>
                    </a:lnR>
                    <a:lnB w="9525">
                      <a:solidFill>
                        <a:srgbClr val="CDD4DA"/>
                      </a:solidFill>
                      <a:prstDash val="solid"/>
                    </a:lnB>
                    <a:solidFill>
                      <a:srgbClr val="F8F7F3"/>
                    </a:solidFill>
                  </a:tcPr>
                </a:tc>
                <a:tc>
                  <a:txBody>
                    <a:bodyPr lIns="95250" tIns="95250" rIns="95250" bIns="95250"/>
                    <a:lstStyle/>
                    <a:p>
                      <a:r>
                        <a:rPr sz="1800" b="0">
                          <a:solidFill>
                            <a:srgbClr val="162D46"/>
                          </a:solidFill>
                          <a:latin typeface="Arial"/>
                          <a:ea typeface="Arial"/>
                          <a:cs typeface="Arial"/>
                        </a:rPr>
                        <a:t>Tháng 17</a:t>
                      </a:r>
                    </a:p>
                  </a:txBody>
                  <a:tcPr marL="91440" marR="91440" marT="45720" marB="45720" anchor="ctr">
                    <a:lnR w="9525">
                      <a:solidFill>
                        <a:srgbClr val="CDD4DA"/>
                      </a:solidFill>
                      <a:prstDash val="solid"/>
                    </a:lnR>
                    <a:lnB w="9525">
                      <a:solidFill>
                        <a:srgbClr val="CDD4DA"/>
                      </a:solidFill>
                      <a:prstDash val="solid"/>
                    </a:lnB>
                    <a:solidFill>
                      <a:srgbClr val="F8F7F3"/>
                    </a:solidFill>
                  </a:tcPr>
                </a:tc>
                <a:tc>
                  <a:txBody>
                    <a:bodyPr lIns="95250" tIns="95250" rIns="95250" bIns="95250"/>
                    <a:lstStyle/>
                    <a:p>
                      <a:r>
                        <a:rPr sz="1800" b="0">
                          <a:solidFill>
                            <a:srgbClr val="162D46"/>
                          </a:solidFill>
                          <a:latin typeface="Arial"/>
                          <a:ea typeface="Arial"/>
                          <a:cs typeface="Arial"/>
                        </a:rPr>
                        <a:t>Chưa trong 24 tháng</a:t>
                      </a:r>
                    </a:p>
                  </a:txBody>
                  <a:tcPr marL="91440" marR="91440" marT="45720" marB="45720" anchor="ctr">
                    <a:lnR w="9525">
                      <a:solidFill>
                        <a:srgbClr val="CDD4DA"/>
                      </a:solidFill>
                      <a:prstDash val="solid"/>
                    </a:lnR>
                    <a:lnB w="9525">
                      <a:solidFill>
                        <a:srgbClr val="CDD4DA"/>
                      </a:solidFill>
                      <a:prstDash val="solid"/>
                    </a:lnB>
                    <a:solidFill>
                      <a:srgbClr val="F8F7F3"/>
                    </a:solidFill>
                  </a:tcPr>
                </a:tc>
              </a:tr>
            </a:tbl>
          </a:graphicData>
        </a:graphic>
      </p:graphicFrame>
      <p:sp>
        <p:nvSpPr>
          <p:cNvPr id="3" name="">
            <a:extLst xmlns:a="http://schemas.openxmlformats.org/drawingml/2006/main">
              <a:ext uri="{FF2B5EF4-FFF2-40B4-BE49-F238E27FC236}">
                <a16:creationId xmlns:a16="http://schemas.microsoft.com/office/drawing/2014/main" id="{A527BB1C-BE27-4C22-873C-E2A8343B0CE0}"/>
              </a:ext>
            </a:extLst>
          </p:cNvPr>
          <p:cNvSpPr>
            <a:spLocks xmlns:a="http://schemas.openxmlformats.org/drawingml/2006/main" noGrp="1"/>
          </p:cNvSpPr>
          <p:nvPr/>
        </p:nvSpPr>
        <p:spPr>
          <a:xfrm xmlns:a="http://schemas.openxmlformats.org/drawingml/2006/main">
            <a:off x="609600" y="42291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62D46"/>
                </a:solidFill>
                <a:latin typeface="Arial"/>
                <a:ea typeface="Arial"/>
                <a:cs typeface="Arial"/>
              </a:defRPr>
            </a:defPPr>
          </a:lstStyle>
          <a:p xmlns:a="http://schemas.openxmlformats.org/drawingml/2006/main">
            <a:pPr>
              <a:defRPr sz="2100" b="1">
                <a:solidFill>
                  <a:srgbClr val="162D46"/>
                </a:solidFill>
                <a:latin typeface="Arial"/>
                <a:ea typeface="Arial"/>
                <a:cs typeface="Arial"/>
              </a:defRPr>
            </a:pPr>
            <a:r>
              <a:rPr sz="2100" b="1">
                <a:solidFill>
                  <a:srgbClr val="162D46"/>
                </a:solidFill>
                <a:latin typeface="Arial"/>
                <a:ea typeface="Arial"/>
                <a:cs typeface="Arial"/>
              </a:rPr>
              <a:t>Cơ sở: LTV/CAC 11,40 lần; thu hồi CAC 1,95 tháng</a:t>
            </a:r>
          </a:p>
        </p:txBody>
      </p:sp>
      <p:sp>
        <p:nvSpPr>
          <p:cNvPr id="4" name="">
            <a:extLst xmlns:a="http://schemas.openxmlformats.org/drawingml/2006/main">
              <a:ext uri="{FF2B5EF4-FFF2-40B4-BE49-F238E27FC236}">
                <a16:creationId xmlns:a16="http://schemas.microsoft.com/office/drawing/2014/main" id="{EF769F2B-27AB-45B3-8984-11CDBD362926}"/>
              </a:ext>
            </a:extLst>
          </p:cNvPr>
          <p:cNvSpPr>
            <a:spLocks xmlns:a="http://schemas.openxmlformats.org/drawingml/2006/main" noGrp="1"/>
          </p:cNvSpPr>
          <p:nvPr/>
        </p:nvSpPr>
        <p:spPr>
          <a:xfrm xmlns:a="http://schemas.openxmlformats.org/drawingml/2006/main">
            <a:off x="609600" y="48958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A34026"/>
                </a:solidFill>
                <a:latin typeface="Arial"/>
                <a:ea typeface="Arial"/>
                <a:cs typeface="Arial"/>
              </a:defRPr>
            </a:defPPr>
          </a:lstStyle>
          <a:p xmlns:a="http://schemas.openxmlformats.org/drawingml/2006/main">
            <a:pPr>
              <a:defRPr sz="2100" b="0">
                <a:solidFill>
                  <a:srgbClr val="A34026"/>
                </a:solidFill>
                <a:latin typeface="Arial"/>
                <a:ea typeface="Arial"/>
                <a:cs typeface="Arial"/>
              </a:defRPr>
            </a:pPr>
            <a:r>
              <a:rPr sz="2100" b="0">
                <a:solidFill>
                  <a:srgbClr val="A34026"/>
                </a:solidFill>
                <a:latin typeface="Arial"/>
                <a:ea typeface="Arial"/>
                <a:cs typeface="Arial"/>
              </a:rPr>
              <a:t>Doanh thu giảm 20%: NPV giảm 2,906 tỷ, mạnh nhất trong bảy biến thử.</a:t>
            </a:r>
          </a:p>
        </p:txBody>
      </p:sp>
      <p:sp>
        <p:nvSpPr>
          <p:cNvPr id="5" name="">
            <a:extLst xmlns:a="http://schemas.openxmlformats.org/drawingml/2006/main">
              <a:ext uri="{FF2B5EF4-FFF2-40B4-BE49-F238E27FC236}">
                <a16:creationId xmlns:a16="http://schemas.microsoft.com/office/drawing/2014/main" id="{9148687B-9075-4ABA-8DD6-1706E848AEFE}"/>
              </a:ext>
            </a:extLst>
          </p:cNvPr>
          <p:cNvSpPr>
            <a:spLocks xmlns:a="http://schemas.openxmlformats.org/drawingml/2006/main" noGrp="1"/>
          </p:cNvSpPr>
          <p:nvPr/>
        </p:nvSpPr>
        <p:spPr>
          <a:xfrm xmlns:a="http://schemas.openxmlformats.org/drawingml/2006/main">
            <a:off x="609600" y="55911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62D46"/>
                </a:solidFill>
                <a:latin typeface="Arial"/>
                <a:ea typeface="Arial"/>
                <a:cs typeface="Arial"/>
              </a:defRPr>
            </a:defPPr>
          </a:lstStyle>
          <a:p xmlns:a="http://schemas.openxmlformats.org/drawingml/2006/main">
            <a:pPr>
              <a:defRPr sz="2100" b="0">
                <a:solidFill>
                  <a:srgbClr val="162D46"/>
                </a:solidFill>
                <a:latin typeface="Arial"/>
                <a:ea typeface="Arial"/>
                <a:cs typeface="Arial"/>
              </a:defRPr>
            </a:pPr>
            <a:r>
              <a:rPr sz="2100" b="0">
                <a:solidFill>
                  <a:srgbClr val="162D46"/>
                </a:solidFill>
                <a:latin typeface="Arial"/>
                <a:ea typeface="Arial"/>
                <a:cs typeface="Arial"/>
              </a:rPr>
              <a:t>Thay toàn bộ trung tâm lớn bằng trung tâm nhỏ: NPV −57,7 triệu.</a:t>
            </a:r>
          </a:p>
        </p:txBody>
      </p:sp>
      <p:sp>
        <p:nvSpPr>
          <p:cNvPr id="6" name="">
            <a:extLst xmlns:a="http://schemas.openxmlformats.org/drawingml/2006/main">
              <a:ext uri="{FF2B5EF4-FFF2-40B4-BE49-F238E27FC236}">
                <a16:creationId xmlns:a16="http://schemas.microsoft.com/office/drawing/2014/main" id="{1994D85A-BE35-4301-AC85-8016016860BA}"/>
              </a:ext>
            </a:extLst>
          </p:cNvPr>
          <p:cNvSpPr>
            <a:spLocks xmlns:a="http://schemas.openxmlformats.org/drawingml/2006/main" noGrp="1"/>
          </p:cNvSpPr>
          <p:nvPr/>
        </p:nvSpPr>
        <p:spPr>
          <a:xfrm xmlns:a="http://schemas.openxmlformats.org/drawingml/2006/main">
            <a:off x="609600" y="63055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00" b="0">
                <a:solidFill>
                  <a:srgbClr val="536273"/>
                </a:solidFill>
                <a:latin typeface="Arial"/>
                <a:ea typeface="Arial"/>
                <a:cs typeface="Arial"/>
              </a:defRPr>
            </a:defPPr>
          </a:lstStyle>
          <a:p xmlns:a="http://schemas.openxmlformats.org/drawingml/2006/main">
            <a:pPr>
              <a:defRPr sz="1500" b="0">
                <a:solidFill>
                  <a:srgbClr val="536273"/>
                </a:solidFill>
                <a:latin typeface="Arial"/>
                <a:ea typeface="Arial"/>
                <a:cs typeface="Arial"/>
              </a:defRPr>
            </a:pPr>
            <a:r>
              <a:rPr sz="1500" b="0">
                <a:solidFill>
                  <a:srgbClr val="536273"/>
                </a:solidFill>
                <a:latin typeface="Arial"/>
                <a:ea typeface="Arial"/>
                <a:cs typeface="Arial"/>
              </a:rPr>
              <a:t>Số tính từ Excel; kịch bản xấu: churn 7,2%, CAC 10,5 triệu</a:t>
            </a:r>
          </a:p>
        </p:txBody>
      </p:sp>
    </p:spTree>
    <p:extLst>
      <p:ext uri="{BB962C8B-B14F-4D97-AF65-F5344CB8AC3E}">
        <p14:creationId xmlns:p14="http://schemas.microsoft.com/office/powerpoint/2010/main" val="605677471"/>
      </p:ext>
    </p:extLst>
  </p:cSld>
</p:sld>
</file>

<file path=ppt/slides/slide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F89AED7-58A4-467A-A18C-B21291E4DCF1}"/>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62D46"/>
                </a:solidFill>
                <a:latin typeface="Arial"/>
                <a:ea typeface="Arial"/>
                <a:cs typeface="Arial"/>
              </a:defRPr>
            </a:defPPr>
          </a:lstStyle>
          <a:p xmlns:a="http://schemas.openxmlformats.org/drawingml/2006/main">
            <a:pPr>
              <a:defRPr sz="3300" b="1">
                <a:solidFill>
                  <a:srgbClr val="162D46"/>
                </a:solidFill>
                <a:latin typeface="Arial"/>
                <a:ea typeface="Arial"/>
                <a:cs typeface="Arial"/>
              </a:defRPr>
            </a:pPr>
            <a:r>
              <a:rPr sz="3300" b="1">
                <a:solidFill>
                  <a:srgbClr val="162D46"/>
                </a:solidFill>
                <a:latin typeface="Arial"/>
                <a:ea typeface="Arial"/>
                <a:cs typeface="Arial"/>
              </a:rPr>
              <a:t>Thử trong 8 tuần trước khi mở rộng</a:t>
            </a:r>
          </a:p>
        </p:txBody>
      </p:sp>
      <p:sp>
        <p:nvSpPr>
          <p:cNvPr id="2" name="">
            <a:extLst xmlns:a="http://schemas.openxmlformats.org/drawingml/2006/main">
              <a:ext uri="{FF2B5EF4-FFF2-40B4-BE49-F238E27FC236}">
                <a16:creationId xmlns:a16="http://schemas.microsoft.com/office/drawing/2014/main" id="{F4F463E5-340D-4D07-B153-03C3305326DA}"/>
              </a:ext>
            </a:extLst>
          </p:cNvPr>
          <p:cNvSpPr>
            <a:spLocks xmlns:a="http://schemas.openxmlformats.org/drawingml/2006/main" noGrp="1"/>
          </p:cNvSpPr>
          <p:nvPr/>
        </p:nvSpPr>
        <p:spPr>
          <a:xfrm xmlns:a="http://schemas.openxmlformats.org/drawingml/2006/main">
            <a:off x="609600" y="1466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250" b="1">
                <a:solidFill>
                  <a:srgbClr val="A34026"/>
                </a:solidFill>
                <a:latin typeface="Arial"/>
                <a:ea typeface="Arial"/>
                <a:cs typeface="Arial"/>
              </a:defRPr>
            </a:defPPr>
          </a:lstStyle>
          <a:p xmlns:a="http://schemas.openxmlformats.org/drawingml/2006/main">
            <a:pPr>
              <a:defRPr sz="2250" b="1">
                <a:solidFill>
                  <a:srgbClr val="A34026"/>
                </a:solidFill>
                <a:latin typeface="Arial"/>
                <a:ea typeface="Arial"/>
                <a:cs typeface="Arial"/>
              </a:defRPr>
            </a:pPr>
            <a:r>
              <a:rPr sz="2250" b="1">
                <a:solidFill>
                  <a:srgbClr val="A34026"/>
                </a:solidFill>
                <a:latin typeface="Arial"/>
                <a:ea typeface="Arial"/>
                <a:cs typeface="Arial"/>
              </a:rPr>
              <a:t>8 trung tâm: 6 nhỏ, 2 lớn · Trần chi đề xuất 60 triệu</a:t>
            </a:r>
          </a:p>
        </p:txBody>
      </p:sp>
      <p:graphicFrame>
        <p:nvGraphicFramePr>
          <p:cNvPr id="3" name="">
            <a:extLst xmlns:a="http://schemas.openxmlformats.org/drawingml/2006/main">
              <a:ext uri="{FF2B5EF4-FFF2-40B4-BE49-F238E27FC236}">
                <a16:creationId xmlns:a16="http://schemas.microsoft.com/office/drawing/2014/main" id="{94345E91-E916-4034-A9C7-F479A10BC71A}"/>
              </a:ext>
            </a:extLst>
          </p:cNvPr>
          <p:cNvGraphicFramePr/>
          <p:nvPr/>
        </p:nvGraphicFramePr>
        <p:xfrm>
          <a:off xmlns:a="http://schemas.openxmlformats.org/drawingml/2006/main" x="609600" y="2247900"/>
          <a:ext xmlns:a="http://schemas.openxmlformats.org/drawingml/2006/main" cx="6191250" cy="3143250"/>
        </p:xfrm>
        <a:graphic xmlns:a="http://schemas.openxmlformats.org/drawingml/2006/main">
          <a:graphicData uri="http://schemas.openxmlformats.org/drawingml/2006/table">
            <a:tbl>
              <a:tblPr/>
              <a:tblGrid>
                <a:gridCol w="4171950"/>
                <a:gridCol w="2019300"/>
              </a:tblGrid>
              <a:tr h="449036">
                <a:tc>
                  <a:txBody>
                    <a:bodyPr lIns="95250" tIns="95250" rIns="95250" bIns="95250"/>
                    <a:lstStyle/>
                    <a:p>
                      <a:r>
                        <a:rPr sz="1800" b="1">
                          <a:solidFill>
                            <a:srgbClr val="FFFFFF"/>
                          </a:solidFill>
                          <a:latin typeface="Arial"/>
                          <a:ea typeface="Arial"/>
                          <a:cs typeface="Arial"/>
                        </a:rPr>
                        <a:t>Ngưỡng hòa vốn [TỰ TÍNH]</a:t>
                      </a:r>
                    </a:p>
                  </a:txBody>
                  <a:tcPr marL="91440" marR="91440" marT="45720" marB="45720" anchor="ctr">
                    <a:lnL w="9525">
                      <a:solidFill>
                        <a:srgbClr val="CDD4DA"/>
                      </a:solidFill>
                      <a:prstDash val="solid"/>
                    </a:lnL>
                    <a:lnR w="9525">
                      <a:solidFill>
                        <a:srgbClr val="CDD4DA"/>
                      </a:solidFill>
                      <a:prstDash val="solid"/>
                    </a:lnR>
                    <a:lnT w="9525">
                      <a:solidFill>
                        <a:srgbClr val="CDD4DA"/>
                      </a:solidFill>
                      <a:prstDash val="solid"/>
                    </a:lnT>
                    <a:lnB w="9525">
                      <a:solidFill>
                        <a:srgbClr val="CDD4DA"/>
                      </a:solidFill>
                      <a:prstDash val="solid"/>
                    </a:lnB>
                    <a:solidFill>
                      <a:srgbClr val="162D46"/>
                    </a:solidFill>
                  </a:tcPr>
                </a:tc>
                <a:tc>
                  <a:txBody>
                    <a:bodyPr lIns="95250" tIns="95250" rIns="95250" bIns="95250"/>
                    <a:lstStyle/>
                    <a:p>
                      <a:r>
                        <a:rPr sz="1800" b="1">
                          <a:solidFill>
                            <a:srgbClr val="FFFFFF"/>
                          </a:solidFill>
                          <a:latin typeface="Arial"/>
                          <a:ea typeface="Arial"/>
                          <a:cs typeface="Arial"/>
                        </a:rPr>
                        <a:t>Mức</a:t>
                      </a:r>
                    </a:p>
                  </a:txBody>
                  <a:tcPr marL="91440" marR="91440" marT="45720" marB="45720" anchor="ctr">
                    <a:lnR w="9525">
                      <a:solidFill>
                        <a:srgbClr val="CDD4DA"/>
                      </a:solidFill>
                      <a:prstDash val="solid"/>
                    </a:lnR>
                    <a:lnT w="9525">
                      <a:solidFill>
                        <a:srgbClr val="CDD4DA"/>
                      </a:solidFill>
                      <a:prstDash val="solid"/>
                    </a:lnT>
                    <a:lnB w="9525">
                      <a:solidFill>
                        <a:srgbClr val="CDD4DA"/>
                      </a:solidFill>
                      <a:prstDash val="solid"/>
                    </a:lnB>
                    <a:solidFill>
                      <a:srgbClr val="162D46"/>
                    </a:solidFill>
                  </a:tcPr>
                </a:tc>
              </a:tr>
              <a:tr h="449036">
                <a:tc>
                  <a:txBody>
                    <a:bodyPr lIns="95250" tIns="95250" rIns="95250" bIns="95250"/>
                    <a:lstStyle/>
                    <a:p>
                      <a:r>
                        <a:rPr sz="1800" b="0">
                          <a:solidFill>
                            <a:srgbClr val="162D46"/>
                          </a:solidFill>
                          <a:latin typeface="Arial"/>
                          <a:ea typeface="Arial"/>
                          <a:cs typeface="Arial"/>
                        </a:rPr>
                        <a:t>Doanh thu giữ lại/khách/tháng</a:t>
                      </a:r>
                    </a:p>
                  </a:txBody>
                  <a:tcPr marL="91440" marR="91440" marT="45720" marB="45720" anchor="ctr">
                    <a:lnL w="9525">
                      <a:solidFill>
                        <a:srgbClr val="CDD4DA"/>
                      </a:solidFill>
                      <a:prstDash val="solid"/>
                    </a:lnL>
                    <a:lnR w="9525">
                      <a:solidFill>
                        <a:srgbClr val="CDD4DA"/>
                      </a:solidFill>
                      <a:prstDash val="solid"/>
                    </a:lnR>
                    <a:lnB w="9525">
                      <a:solidFill>
                        <a:srgbClr val="CDD4DA"/>
                      </a:solidFill>
                      <a:prstDash val="solid"/>
                    </a:lnB>
                    <a:solidFill>
                      <a:srgbClr val="F8F7F3"/>
                    </a:solidFill>
                  </a:tcPr>
                </a:tc>
                <a:tc>
                  <a:txBody>
                    <a:bodyPr lIns="95250" tIns="95250" rIns="95250" bIns="95250"/>
                    <a:lstStyle/>
                    <a:p>
                      <a:r>
                        <a:rPr sz="1800" b="0">
                          <a:solidFill>
                            <a:srgbClr val="162D46"/>
                          </a:solidFill>
                          <a:latin typeface="Arial"/>
                          <a:ea typeface="Arial"/>
                          <a:cs typeface="Arial"/>
                        </a:rPr>
                        <a:t>≥ 3,9504 triệu</a:t>
                      </a:r>
                    </a:p>
                  </a:txBody>
                  <a:tcPr marL="91440" marR="91440" marT="45720" marB="45720" anchor="ctr">
                    <a:lnR w="9525">
                      <a:solidFill>
                        <a:srgbClr val="CDD4DA"/>
                      </a:solidFill>
                      <a:prstDash val="solid"/>
                    </a:lnR>
                    <a:lnB w="9525">
                      <a:solidFill>
                        <a:srgbClr val="CDD4DA"/>
                      </a:solidFill>
                      <a:prstDash val="solid"/>
                    </a:lnB>
                    <a:solidFill>
                      <a:srgbClr val="F8F7F3"/>
                    </a:solidFill>
                  </a:tcPr>
                </a:tc>
              </a:tr>
              <a:tr h="449036">
                <a:tc>
                  <a:txBody>
                    <a:bodyPr lIns="95250" tIns="95250" rIns="95250" bIns="95250"/>
                    <a:lstStyle/>
                    <a:p>
                      <a:r>
                        <a:rPr sz="1800" b="0">
                          <a:solidFill>
                            <a:srgbClr val="162D46"/>
                          </a:solidFill>
                          <a:latin typeface="Arial"/>
                          <a:ea typeface="Arial"/>
                          <a:cs typeface="Arial"/>
                        </a:rPr>
                        <a:t>Biên trên doanh thu giữ lại</a:t>
                      </a:r>
                    </a:p>
                  </a:txBody>
                  <a:tcPr marL="91440" marR="91440" marT="45720" marB="45720" anchor="ctr">
                    <a:lnL w="9525">
                      <a:solidFill>
                        <a:srgbClr val="CDD4DA"/>
                      </a:solidFill>
                      <a:prstDash val="solid"/>
                    </a:lnL>
                    <a:lnR w="9525">
                      <a:solidFill>
                        <a:srgbClr val="CDD4DA"/>
                      </a:solidFill>
                      <a:prstDash val="solid"/>
                    </a:lnR>
                    <a:lnB w="9525">
                      <a:solidFill>
                        <a:srgbClr val="CDD4DA"/>
                      </a:solidFill>
                      <a:prstDash val="solid"/>
                    </a:lnB>
                    <a:solidFill>
                      <a:srgbClr val="F8F7F3"/>
                    </a:solidFill>
                  </a:tcPr>
                </a:tc>
                <a:tc>
                  <a:txBody>
                    <a:bodyPr lIns="95250" tIns="95250" rIns="95250" bIns="95250"/>
                    <a:lstStyle/>
                    <a:p>
                      <a:r>
                        <a:rPr sz="1800" b="0">
                          <a:solidFill>
                            <a:srgbClr val="162D46"/>
                          </a:solidFill>
                          <a:latin typeface="Arial"/>
                          <a:ea typeface="Arial"/>
                          <a:cs typeface="Arial"/>
                        </a:rPr>
                        <a:t>≥ 44,74%</a:t>
                      </a:r>
                    </a:p>
                  </a:txBody>
                  <a:tcPr marL="91440" marR="91440" marT="45720" marB="45720" anchor="ctr">
                    <a:lnR w="9525">
                      <a:solidFill>
                        <a:srgbClr val="CDD4DA"/>
                      </a:solidFill>
                      <a:prstDash val="solid"/>
                    </a:lnR>
                    <a:lnB w="9525">
                      <a:solidFill>
                        <a:srgbClr val="CDD4DA"/>
                      </a:solidFill>
                      <a:prstDash val="solid"/>
                    </a:lnB>
                    <a:solidFill>
                      <a:srgbClr val="F8F7F3"/>
                    </a:solidFill>
                  </a:tcPr>
                </a:tc>
              </a:tr>
              <a:tr h="449036">
                <a:tc>
                  <a:txBody>
                    <a:bodyPr lIns="95250" tIns="95250" rIns="95250" bIns="95250"/>
                    <a:lstStyle/>
                    <a:p>
                      <a:r>
                        <a:rPr sz="1800" b="0">
                          <a:solidFill>
                            <a:srgbClr val="162D46"/>
                          </a:solidFill>
                          <a:latin typeface="Arial"/>
                          <a:ea typeface="Arial"/>
                          <a:cs typeface="Arial"/>
                        </a:rPr>
                        <a:t>CAC</a:t>
                      </a:r>
                    </a:p>
                  </a:txBody>
                  <a:tcPr marL="91440" marR="91440" marT="45720" marB="45720" anchor="ctr">
                    <a:lnL w="9525">
                      <a:solidFill>
                        <a:srgbClr val="CDD4DA"/>
                      </a:solidFill>
                      <a:prstDash val="solid"/>
                    </a:lnL>
                    <a:lnR w="9525">
                      <a:solidFill>
                        <a:srgbClr val="CDD4DA"/>
                      </a:solidFill>
                      <a:prstDash val="solid"/>
                    </a:lnR>
                    <a:lnB w="9525">
                      <a:solidFill>
                        <a:srgbClr val="CDD4DA"/>
                      </a:solidFill>
                      <a:prstDash val="solid"/>
                    </a:lnB>
                    <a:solidFill>
                      <a:srgbClr val="F8F7F3"/>
                    </a:solidFill>
                  </a:tcPr>
                </a:tc>
                <a:tc>
                  <a:txBody>
                    <a:bodyPr lIns="95250" tIns="95250" rIns="95250" bIns="95250"/>
                    <a:lstStyle/>
                    <a:p>
                      <a:r>
                        <a:rPr sz="1800" b="0">
                          <a:solidFill>
                            <a:srgbClr val="162D46"/>
                          </a:solidFill>
                          <a:latin typeface="Arial"/>
                          <a:ea typeface="Arial"/>
                          <a:cs typeface="Arial"/>
                        </a:rPr>
                        <a:t>≤ 16,453 triệu</a:t>
                      </a:r>
                    </a:p>
                  </a:txBody>
                  <a:tcPr marL="91440" marR="91440" marT="45720" marB="45720" anchor="ctr">
                    <a:lnR w="9525">
                      <a:solidFill>
                        <a:srgbClr val="CDD4DA"/>
                      </a:solidFill>
                      <a:prstDash val="solid"/>
                    </a:lnR>
                    <a:lnB w="9525">
                      <a:solidFill>
                        <a:srgbClr val="CDD4DA"/>
                      </a:solidFill>
                      <a:prstDash val="solid"/>
                    </a:lnB>
                    <a:solidFill>
                      <a:srgbClr val="F8F7F3"/>
                    </a:solidFill>
                  </a:tcPr>
                </a:tc>
              </a:tr>
              <a:tr h="449036">
                <a:tc>
                  <a:txBody>
                    <a:bodyPr lIns="95250" tIns="95250" rIns="95250" bIns="95250"/>
                    <a:lstStyle/>
                    <a:p>
                      <a:r>
                        <a:rPr sz="1800" b="0">
                          <a:solidFill>
                            <a:srgbClr val="162D46"/>
                          </a:solidFill>
                          <a:latin typeface="Arial"/>
                          <a:ea typeface="Arial"/>
                          <a:cs typeface="Arial"/>
                        </a:rPr>
                        <a:t>Khách mới tháng đầu</a:t>
                      </a:r>
                    </a:p>
                  </a:txBody>
                  <a:tcPr marL="91440" marR="91440" marT="45720" marB="45720" anchor="ctr">
                    <a:lnL w="9525">
                      <a:solidFill>
                        <a:srgbClr val="CDD4DA"/>
                      </a:solidFill>
                      <a:prstDash val="solid"/>
                    </a:lnL>
                    <a:lnR w="9525">
                      <a:solidFill>
                        <a:srgbClr val="CDD4DA"/>
                      </a:solidFill>
                      <a:prstDash val="solid"/>
                    </a:lnR>
                    <a:lnB w="9525">
                      <a:solidFill>
                        <a:srgbClr val="CDD4DA"/>
                      </a:solidFill>
                      <a:prstDash val="solid"/>
                    </a:lnB>
                    <a:solidFill>
                      <a:srgbClr val="F8F7F3"/>
                    </a:solidFill>
                  </a:tcPr>
                </a:tc>
                <a:tc>
                  <a:txBody>
                    <a:bodyPr lIns="95250" tIns="95250" rIns="95250" bIns="95250"/>
                    <a:lstStyle/>
                    <a:p>
                      <a:r>
                        <a:rPr sz="1800" b="0">
                          <a:solidFill>
                            <a:srgbClr val="162D46"/>
                          </a:solidFill>
                          <a:latin typeface="Arial"/>
                          <a:ea typeface="Arial"/>
                          <a:cs typeface="Arial"/>
                        </a:rPr>
                        <a:t>≥ 6 trung tâm</a:t>
                      </a:r>
                    </a:p>
                  </a:txBody>
                  <a:tcPr marL="91440" marR="91440" marT="45720" marB="45720" anchor="ctr">
                    <a:lnR w="9525">
                      <a:solidFill>
                        <a:srgbClr val="CDD4DA"/>
                      </a:solidFill>
                      <a:prstDash val="solid"/>
                    </a:lnR>
                    <a:lnB w="9525">
                      <a:solidFill>
                        <a:srgbClr val="CDD4DA"/>
                      </a:solidFill>
                      <a:prstDash val="solid"/>
                    </a:lnB>
                    <a:solidFill>
                      <a:srgbClr val="F8F7F3"/>
                    </a:solidFill>
                  </a:tcPr>
                </a:tc>
              </a:tr>
              <a:tr h="449036">
                <a:tc>
                  <a:txBody>
                    <a:bodyPr lIns="95250" tIns="95250" rIns="95250" bIns="95250"/>
                    <a:lstStyle/>
                    <a:p>
                      <a:r>
                        <a:rPr sz="1800" b="0">
                          <a:solidFill>
                            <a:srgbClr val="162D46"/>
                          </a:solidFill>
                          <a:latin typeface="Arial"/>
                          <a:ea typeface="Arial"/>
                          <a:cs typeface="Arial"/>
                        </a:rPr>
                        <a:t>Chi phí cố định/tháng</a:t>
                      </a:r>
                    </a:p>
                  </a:txBody>
                  <a:tcPr marL="91440" marR="91440" marT="45720" marB="45720" anchor="ctr">
                    <a:lnL w="9525">
                      <a:solidFill>
                        <a:srgbClr val="CDD4DA"/>
                      </a:solidFill>
                      <a:prstDash val="solid"/>
                    </a:lnL>
                    <a:lnR w="9525">
                      <a:solidFill>
                        <a:srgbClr val="CDD4DA"/>
                      </a:solidFill>
                      <a:prstDash val="solid"/>
                    </a:lnR>
                    <a:lnB w="9525">
                      <a:solidFill>
                        <a:srgbClr val="CDD4DA"/>
                      </a:solidFill>
                      <a:prstDash val="solid"/>
                    </a:lnB>
                    <a:solidFill>
                      <a:srgbClr val="F8F7F3"/>
                    </a:solidFill>
                  </a:tcPr>
                </a:tc>
                <a:tc>
                  <a:txBody>
                    <a:bodyPr lIns="95250" tIns="95250" rIns="95250" bIns="95250"/>
                    <a:lstStyle/>
                    <a:p>
                      <a:r>
                        <a:rPr sz="1800" b="0">
                          <a:solidFill>
                            <a:srgbClr val="162D46"/>
                          </a:solidFill>
                          <a:latin typeface="Arial"/>
                          <a:ea typeface="Arial"/>
                          <a:cs typeface="Arial"/>
                        </a:rPr>
                        <a:t>≤ 330,34 triệu</a:t>
                      </a:r>
                    </a:p>
                  </a:txBody>
                  <a:tcPr marL="91440" marR="91440" marT="45720" marB="45720" anchor="ctr">
                    <a:lnR w="9525">
                      <a:solidFill>
                        <a:srgbClr val="CDD4DA"/>
                      </a:solidFill>
                      <a:prstDash val="solid"/>
                    </a:lnR>
                    <a:lnB w="9525">
                      <a:solidFill>
                        <a:srgbClr val="CDD4DA"/>
                      </a:solidFill>
                      <a:prstDash val="solid"/>
                    </a:lnB>
                    <a:solidFill>
                      <a:srgbClr val="F8F7F3"/>
                    </a:solidFill>
                  </a:tcPr>
                </a:tc>
              </a:tr>
              <a:tr h="449036">
                <a:tc>
                  <a:txBody>
                    <a:bodyPr lIns="95250" tIns="95250" rIns="95250" bIns="95250"/>
                    <a:lstStyle/>
                    <a:p>
                      <a:r>
                        <a:rPr sz="1800" b="0">
                          <a:solidFill>
                            <a:srgbClr val="162D46"/>
                          </a:solidFill>
                          <a:latin typeface="Arial"/>
                          <a:ea typeface="Arial"/>
                          <a:cs typeface="Arial"/>
                        </a:rPr>
                        <a:t>Chia doanh thu đối tác</a:t>
                      </a:r>
                    </a:p>
                  </a:txBody>
                  <a:tcPr marL="91440" marR="91440" marT="45720" marB="45720" anchor="ctr">
                    <a:lnL w="9525">
                      <a:solidFill>
                        <a:srgbClr val="CDD4DA"/>
                      </a:solidFill>
                      <a:prstDash val="solid"/>
                    </a:lnL>
                    <a:lnR w="9525">
                      <a:solidFill>
                        <a:srgbClr val="CDD4DA"/>
                      </a:solidFill>
                      <a:prstDash val="solid"/>
                    </a:lnR>
                    <a:lnB w="9525">
                      <a:solidFill>
                        <a:srgbClr val="CDD4DA"/>
                      </a:solidFill>
                      <a:prstDash val="solid"/>
                    </a:lnB>
                    <a:solidFill>
                      <a:srgbClr val="F8F7F3"/>
                    </a:solidFill>
                  </a:tcPr>
                </a:tc>
                <a:tc>
                  <a:txBody>
                    <a:bodyPr lIns="95250" tIns="95250" rIns="95250" bIns="95250"/>
                    <a:lstStyle/>
                    <a:p>
                      <a:r>
                        <a:rPr sz="1800" b="0">
                          <a:solidFill>
                            <a:srgbClr val="162D46"/>
                          </a:solidFill>
                          <a:latin typeface="Arial"/>
                          <a:ea typeface="Arial"/>
                          <a:cs typeface="Arial"/>
                        </a:rPr>
                        <a:t>≤ 39,34%</a:t>
                      </a:r>
                    </a:p>
                  </a:txBody>
                  <a:tcPr marL="91440" marR="91440" marT="45720" marB="45720" anchor="ctr">
                    <a:lnR w="9525">
                      <a:solidFill>
                        <a:srgbClr val="CDD4DA"/>
                      </a:solidFill>
                      <a:prstDash val="solid"/>
                    </a:lnR>
                    <a:lnB w="9525">
                      <a:solidFill>
                        <a:srgbClr val="CDD4DA"/>
                      </a:solidFill>
                      <a:prstDash val="solid"/>
                    </a:lnB>
                    <a:solidFill>
                      <a:srgbClr val="F8F7F3"/>
                    </a:solidFill>
                  </a:tcPr>
                </a:tc>
              </a:tr>
            </a:tbl>
          </a:graphicData>
        </a:graphic>
      </p:graphicFrame>
      <p:sp>
        <p:nvSpPr>
          <p:cNvPr id="4" name="">
            <a:extLst xmlns:a="http://schemas.openxmlformats.org/drawingml/2006/main">
              <a:ext uri="{FF2B5EF4-FFF2-40B4-BE49-F238E27FC236}">
                <a16:creationId xmlns:a16="http://schemas.microsoft.com/office/drawing/2014/main" id="{115858E3-0E49-4CCA-9411-61F9C3C77238}"/>
              </a:ext>
            </a:extLst>
          </p:cNvPr>
          <p:cNvSpPr>
            <a:spLocks xmlns:a="http://schemas.openxmlformats.org/drawingml/2006/main" noGrp="1"/>
          </p:cNvSpPr>
          <p:nvPr/>
        </p:nvSpPr>
        <p:spPr>
          <a:xfrm xmlns:a="http://schemas.openxmlformats.org/drawingml/2006/main">
            <a:off x="7277100" y="2247900"/>
            <a:ext cx="4267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250" b="1">
                <a:solidFill>
                  <a:srgbClr val="162D46"/>
                </a:solidFill>
                <a:latin typeface="Arial"/>
                <a:ea typeface="Arial"/>
                <a:cs typeface="Arial"/>
              </a:defRPr>
            </a:defPPr>
          </a:lstStyle>
          <a:p xmlns:a="http://schemas.openxmlformats.org/drawingml/2006/main">
            <a:pPr>
              <a:defRPr sz="2250" b="1">
                <a:solidFill>
                  <a:srgbClr val="162D46"/>
                </a:solidFill>
                <a:latin typeface="Arial"/>
                <a:ea typeface="Arial"/>
                <a:cs typeface="Arial"/>
              </a:defRPr>
            </a:pPr>
            <a:r>
              <a:rPr sz="2250" b="1">
                <a:solidFill>
                  <a:srgbClr val="162D46"/>
                </a:solidFill>
                <a:latin typeface="Arial"/>
                <a:ea typeface="Arial"/>
                <a:cs typeface="Arial"/>
              </a:rPr>
              <a:t>Luật xử lý</a:t>
            </a:r>
          </a:p>
        </p:txBody>
      </p:sp>
      <p:sp>
        <p:nvSpPr>
          <p:cNvPr id="5" name="">
            <a:extLst xmlns:a="http://schemas.openxmlformats.org/drawingml/2006/main">
              <a:ext uri="{FF2B5EF4-FFF2-40B4-BE49-F238E27FC236}">
                <a16:creationId xmlns:a16="http://schemas.microsoft.com/office/drawing/2014/main" id="{8D9B64BB-8BDD-4A63-B107-9053485F0403}"/>
              </a:ext>
            </a:extLst>
          </p:cNvPr>
          <p:cNvSpPr>
            <a:spLocks xmlns:a="http://schemas.openxmlformats.org/drawingml/2006/main" noGrp="1"/>
          </p:cNvSpPr>
          <p:nvPr/>
        </p:nvSpPr>
        <p:spPr>
          <a:xfrm xmlns:a="http://schemas.openxmlformats.org/drawingml/2006/main">
            <a:off x="7277100" y="2876550"/>
            <a:ext cx="4305300" cy="281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0">
                <a:solidFill>
                  <a:srgbClr val="162D46"/>
                </a:solidFill>
                <a:latin typeface="Arial"/>
                <a:ea typeface="Arial"/>
                <a:cs typeface="Arial"/>
              </a:defRPr>
            </a:defPPr>
          </a:lstStyle>
          <a:p xmlns:a="http://schemas.openxmlformats.org/drawingml/2006/main">
            <a:pPr>
              <a:defRPr sz="1950" b="0">
                <a:solidFill>
                  <a:srgbClr val="162D46"/>
                </a:solidFill>
                <a:latin typeface="Arial"/>
                <a:ea typeface="Arial"/>
                <a:cs typeface="Arial"/>
              </a:defRPr>
            </a:pPr>
            <a:r>
              <a:rPr sz="1950" b="0">
                <a:solidFill>
                  <a:srgbClr val="162D46"/>
                </a:solidFill>
                <a:latin typeface="Arial"/>
                <a:ea typeface="Arial"/>
                <a:cs typeface="Arial"/>
              </a:rPr>
              <a:t>NẾU doanh thu giữ lại dưới 3,9504 triệu/khách/tháng</a:t>
            </a:r>
          </a:p>
          <a:p xmlns:a="http://schemas.openxmlformats.org/drawingml/2006/main">
            <a:pPr>
              <a:defRPr sz="1950" b="0">
                <a:solidFill>
                  <a:srgbClr val="162D46"/>
                </a:solidFill>
                <a:latin typeface="Arial"/>
                <a:ea typeface="Arial"/>
                <a:cs typeface="Arial"/>
              </a:defRPr>
            </a:pPr>
            <a:r>
              <a:rPr sz="1950" b="0">
                <a:solidFill>
                  <a:srgbClr val="162D46"/>
                </a:solidFill>
                <a:latin typeface="Arial"/>
                <a:ea typeface="Arial"/>
                <a:cs typeface="Arial"/>
              </a:rPr>
              <a:t>TRONG 2 tháng liên tiếp, đủ 8 trung tâm</a:t>
            </a:r>
          </a:p>
          <a:p xmlns:a="http://schemas.openxmlformats.org/drawingml/2006/main">
            <a:pPr>
              <a:defRPr sz="1950" b="0">
                <a:solidFill>
                  <a:srgbClr val="162D46"/>
                </a:solidFill>
                <a:latin typeface="Arial"/>
                <a:ea typeface="Arial"/>
                <a:cs typeface="Arial"/>
              </a:defRPr>
            </a:pPr>
            <a:r>
              <a:rPr sz="1950" b="0">
                <a:solidFill>
                  <a:srgbClr val="162D46"/>
                </a:solidFill>
                <a:latin typeface="Arial"/>
                <a:ea typeface="Arial"/>
                <a:cs typeface="Arial"/>
              </a:rPr>
              <a:t>THÌ An dừng mở rộng và đàm phán lại gói, tỷ lệ chia</a:t>
            </a:r>
          </a:p>
          <a:p xmlns:a="http://schemas.openxmlformats.org/drawingml/2006/main">
            <a:pPr>
              <a:defRPr sz="1950" b="0">
                <a:solidFill>
                  <a:srgbClr val="162D46"/>
                </a:solidFill>
                <a:latin typeface="Arial"/>
                <a:ea typeface="Arial"/>
                <a:cs typeface="Arial"/>
              </a:defRPr>
            </a:pPr>
            <a:r>
              <a:rPr sz="1950" b="0">
                <a:solidFill>
                  <a:srgbClr val="162D46"/>
                </a:solidFill>
                <a:latin typeface="Arial"/>
                <a:ea typeface="Arial"/>
                <a:cs typeface="Arial"/>
              </a:rPr>
              <a:t>KHÔNG THÌ không giảm phí vượt dưới giá sàn</a:t>
            </a:r>
          </a:p>
        </p:txBody>
      </p:sp>
      <p:sp>
        <p:nvSpPr>
          <p:cNvPr id="6" name="">
            <a:extLst xmlns:a="http://schemas.openxmlformats.org/drawingml/2006/main">
              <a:ext uri="{FF2B5EF4-FFF2-40B4-BE49-F238E27FC236}">
                <a16:creationId xmlns:a16="http://schemas.microsoft.com/office/drawing/2014/main" id="{D6E19339-8866-4A03-9FF3-8723CE577AEA}"/>
              </a:ext>
            </a:extLst>
          </p:cNvPr>
          <p:cNvSpPr>
            <a:spLocks xmlns:a="http://schemas.openxmlformats.org/drawingml/2006/main" noGrp="1"/>
          </p:cNvSpPr>
          <p:nvPr/>
        </p:nvSpPr>
        <p:spPr>
          <a:xfrm xmlns:a="http://schemas.openxmlformats.org/drawingml/2006/main">
            <a:off x="609600" y="57531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0">
                <a:solidFill>
                  <a:srgbClr val="162D46"/>
                </a:solidFill>
                <a:latin typeface="Arial"/>
                <a:ea typeface="Arial"/>
                <a:cs typeface="Arial"/>
              </a:defRPr>
            </a:defPPr>
          </a:lstStyle>
          <a:p xmlns:a="http://schemas.openxmlformats.org/drawingml/2006/main">
            <a:pPr>
              <a:defRPr sz="1950" b="0">
                <a:solidFill>
                  <a:srgbClr val="162D46"/>
                </a:solidFill>
                <a:latin typeface="Arial"/>
                <a:ea typeface="Arial"/>
                <a:cs typeface="Arial"/>
              </a:defRPr>
            </a:pPr>
            <a:r>
              <a:rPr sz="1950" b="0">
                <a:solidFill>
                  <a:srgbClr val="162D46"/>
                </a:solidFill>
                <a:latin typeface="Arial"/>
                <a:ea typeface="Arial"/>
                <a:cs typeface="Arial"/>
              </a:rPr>
              <a:t>An theo dõi hằng tuần; hoãn tuyển đội 5 người, đo sửa điểm trên 200 bài trước khi mở rộng.</a:t>
            </a:r>
          </a:p>
        </p:txBody>
      </p:sp>
    </p:spTree>
    <p:extLst>
      <p:ext uri="{BB962C8B-B14F-4D97-AF65-F5344CB8AC3E}">
        <p14:creationId xmlns:p14="http://schemas.microsoft.com/office/powerpoint/2010/main" val="985586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2026-10-12T13:13:54.5830000Z</dcterms:created>
  <dcterms:modified xsi:type="dcterms:W3CDTF">2026-10-12T13:13:54.5830000Z</dcterms:modified>
</coreProperties>
</file>